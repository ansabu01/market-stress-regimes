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2" r:id="rId3"/>
    <p:sldId id="275" r:id="rId26"/>
    <p:sldId id="276" r:id="rId27"/>
    <p:sldId id="257" r:id="rId4"/>
    <p:sldId id="258" r:id="rId5"/>
    <p:sldId id="273" r:id="rId6"/>
    <p:sldId id="260" r:id="rId7"/>
    <p:sldId id="259" r:id="rId8"/>
    <p:sldId id="271" r:id="rId9"/>
    <p:sldId id="270" r:id="rId10"/>
    <p:sldId id="268" r:id="rId11"/>
    <p:sldId id="274" r:id="rId12"/>
    <p:sldId id="261" r:id="rId13"/>
    <p:sldId id="277" r:id="rId28"/>
    <p:sldId id="265" r:id="rId14"/>
    <p:sldId id="262" r:id="rId15"/>
    <p:sldId id="278" r:id="rId29"/>
    <p:sldId id="263" r:id="rId16"/>
    <p:sldId id="279" r:id="rId30"/>
    <p:sldId id="280" r:id="rId31"/>
    <p:sldId id="264" r:id="rId17"/>
    <p:sldId id="281" r:id="rId32"/>
    <p:sldId id="266" r:id="rId18"/>
    <p:sldId id="282" r:id="rId33"/>
    <p:sldId id="267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20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6/11/relationships/changesInfo" Target="changesInfos/changesInfo1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ian Säwert" userId="85ad20704270ec35" providerId="LiveId" clId="{0467837C-26B7-44CF-B338-589AAD53B99F}"/>
    <pc:docChg chg="addSld delSld modSld sldOrd">
      <pc:chgData name="Florian Säwert" userId="85ad20704270ec35" providerId="LiveId" clId="{0467837C-26B7-44CF-B338-589AAD53B99F}" dt="2026-07-04T10:06:01.546" v="16" actId="2696"/>
      <pc:docMkLst>
        <pc:docMk/>
      </pc:docMkLst>
      <pc:sldChg chg="ord">
        <pc:chgData name="Florian Säwert" userId="85ad20704270ec35" providerId="LiveId" clId="{0467837C-26B7-44CF-B338-589AAD53B99F}" dt="2026-07-03T20:22:45.566" v="8"/>
        <pc:sldMkLst>
          <pc:docMk/>
          <pc:sldMk cId="0" sldId="260"/>
        </pc:sldMkLst>
      </pc:sldChg>
      <pc:sldChg chg="ord">
        <pc:chgData name="Florian Säwert" userId="85ad20704270ec35" providerId="LiveId" clId="{0467837C-26B7-44CF-B338-589AAD53B99F}" dt="2026-07-03T18:02:15.662" v="6"/>
        <pc:sldMkLst>
          <pc:docMk/>
          <pc:sldMk cId="0" sldId="265"/>
        </pc:sldMkLst>
      </pc:sldChg>
      <pc:sldChg chg="ord">
        <pc:chgData name="Florian Säwert" userId="85ad20704270ec35" providerId="LiveId" clId="{0467837C-26B7-44CF-B338-589AAD53B99F}" dt="2026-07-04T10:02:30.101" v="15"/>
        <pc:sldMkLst>
          <pc:docMk/>
          <pc:sldMk cId="0" sldId="268"/>
        </pc:sldMkLst>
      </pc:sldChg>
      <pc:sldChg chg="del">
        <pc:chgData name="Florian Säwert" userId="85ad20704270ec35" providerId="LiveId" clId="{0467837C-26B7-44CF-B338-589AAD53B99F}" dt="2026-07-04T10:06:01.546" v="16" actId="2696"/>
        <pc:sldMkLst>
          <pc:docMk/>
          <pc:sldMk cId="0" sldId="269"/>
        </pc:sldMkLst>
      </pc:sldChg>
      <pc:sldChg chg="addSp modSp new mod">
        <pc:chgData name="Florian Säwert" userId="85ad20704270ec35" providerId="LiveId" clId="{0467837C-26B7-44CF-B338-589AAD53B99F}" dt="2026-07-03T17:40:27.864" v="2"/>
        <pc:sldMkLst>
          <pc:docMk/>
          <pc:sldMk cId="209450884" sldId="270"/>
        </pc:sldMkLst>
        <pc:picChg chg="add mod">
          <ac:chgData name="Florian Säwert" userId="85ad20704270ec35" providerId="LiveId" clId="{0467837C-26B7-44CF-B338-589AAD53B99F}" dt="2026-07-03T17:40:27.864" v="2"/>
          <ac:picMkLst>
            <pc:docMk/>
            <pc:sldMk cId="209450884" sldId="270"/>
            <ac:picMk id="3" creationId="{B2407BC0-96AD-5F4D-3972-93E546D90946}"/>
          </ac:picMkLst>
        </pc:picChg>
      </pc:sldChg>
      <pc:sldChg chg="addSp modSp new mod ord">
        <pc:chgData name="Florian Säwert" userId="85ad20704270ec35" providerId="LiveId" clId="{0467837C-26B7-44CF-B338-589AAD53B99F}" dt="2026-07-03T20:23:23.943" v="13"/>
        <pc:sldMkLst>
          <pc:docMk/>
          <pc:sldMk cId="1032688280" sldId="271"/>
        </pc:sldMkLst>
        <pc:picChg chg="add mod">
          <ac:chgData name="Florian Säwert" userId="85ad20704270ec35" providerId="LiveId" clId="{0467837C-26B7-44CF-B338-589AAD53B99F}" dt="2026-07-03T20:23:03.904" v="11"/>
          <ac:picMkLst>
            <pc:docMk/>
            <pc:sldMk cId="1032688280" sldId="271"/>
            <ac:picMk id="3" creationId="{7E54F973-ED20-761D-40AC-4315D658DB40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800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One-line pitch: portfolios that look diversified in calm markets can lose that protection exactly in stress; we measure how much, and whether it is structural.
- Full pipeline: DuckDB + Python, two ETF panels, a Markov-switching stress regime, and three measurement layers (correlations, PCA concentration, Forbes-Rigobon).
- Everything shown is reproducible: scripts/run_all.py + notebooks regenerate every figure and table.
- 12-15 minutes; questions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Growth of $100 from each panel's common start: every drawdown hits nearly all lines together.
- The classic investor complaint: correlations 'go to one' in a crisis. We test how literally that is true, per asset pair.
- Key design idea: don't average over calm and crisis - condition on a stress regime and compare the two dependence structures.
- Research question on record: does diversification survive when it is needed most, and is the deterioration structural or mechanical?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Panel A spans the classic diversification menu: equity, short/long Treasuries, aggregate + high-yield credit, gold, commodities, oil, listed real estate.
- Panel B asks a different question: does geographic equity diversification survive stress?
- US-listed ETFs mean synchronous NYSE closes - no asynchronicity bias in daily correlations.
- HYG is the latest entrant (Apr 2007) and anchors the balanced window; all universes share the same 4,711 days and the same calm/stress mix.
- Returns are heavily non-Gaussian (excess kurtosis up to 55) - motivates regime-based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Caption: the model evaluates each month's return under the calm and stress state distributions and combines this with regime persistence. The fitted transition matrix is FIXED - only the probability of being in the stress state changes over time.
- May 2017: +1.4% is typical calm-state behaviour -&gt; P(stress) 0.01 -&gt; Calm.
- Apr 2012: -0.7% is ambiguous on its own (both densities overlap) - Markov persistence from neighbouring stress months tips it to P(stress) 0.53 -&gt; Stress. This is the pedagogical core: the label is not a per-month threshold on returns.
- Oct 2008: -18.1% is essentially impossible under the calm density -&gt; P(stress) 1.00.
- Animated version of this figure available (GIF/HTML in outputs/figures) - can be swapped onto this slide for the live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Two latent states, each with its own mean and variance: calm mu +1.44%/sigma 2.38% per month; stress mu -0.14%/sigma 5.65%.
- Stress is defined ex post as the higher-variance state; labels use smoothed probabilities with the 0.5 maximum-probability rule.
- Both states are persistent (p_CC = 0.941, p_SS = 0.939) - regimes last about 17 months on average, so 'stress' is a high-volatility era, not a crash day.
- Specification is BIC-preferred against variance-only, mean-only and three-state alternatives; robust to threshold (0.75), weekly frequency, and optimizer initialization.
- Validation: agrees with an independent VIX + drawdown rule well beyond chance (Cohen's kappa about 0.5 at weekly frequency).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Top: SPY (log scale) with monthly Markov stress shading; middle: smoothed P(stress) with both thresholds; bottom: agreement swim-lanes.
- The monthly Markov, weekly Markov, and the rule-based VIX+drawdown label identify the same episodes (kappa about 0.5, 'moderate', well beyond chance).
- Stress covers 47% of months - long high-volatility eras (dot-com, GFC, euro-area, 2015-16, 2018, COVID, 2022 rate shock), not crash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Same balanced days, Pearson correlations computed separately on calm and stress days.
- Panel B: all 15 pairs above the diagonal - a uniform tightening, average 0.74 -&gt; 0.87. Geographic equity diversification compresses toward one factor.
- Panel A: the average is flat (slightly negative) but that hides a reshuffle: risk-on pairs (SPY/DBC/USO with VNQ) tighten, while Treasury and gold pairs DECOUPLE further - TLT-VNQ falls by 0.37.
- 61% of Panel A pairs see their correlation FALL in stress - the opposite of the textbook breakdown.
- These are raw descriptive numbers; next two slides ask what survives inference and what survives the volatility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Markov label says WHEN markets are stressed, not WHICH macro shock causes the stress.
- Splitting stress days by broad era: the whole duration sleeve flips sign in 2022-23 (SPY-TLT, TLT-VNQ, and TLT-AGG rises to 0.91), consistent with inflation-driven stock-bond comovement (Campbell-Pflueger-Viceira 2020).
- Gold is the exception: SPY-GLD stays within [+0.01, +0.15] in EVERY episode - its diversification is episode-robust.
- Because ~76% of stress days predate 2022, the pooled Treasury-hedge estimate is dominated by deflationary-type episodes.
- Framing: average stress-regime property, not an unconditional hedge guarantee. No formal inference on the split (501 vs 1,387 days).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Whole cross-sectional rows are resampled in chronological blocks together with their regime labels; regime counts vary naturally across replicates.
- Panel B: +0.124 with CI [+0.084, +0.157], p &lt; 0.001, and all 15 pairs FDR-significant - the one unambiguous universe-level result.
- Panel A and combined averages are NOT distinguishable from zero (p = 0.27 and 0.16) - but pair-level significance shows the reshuffle is real.
- Methodological point for this course: respecting serial dependence removes about a third of the 'discoveries' a naive iid test would claim.
- Inference is conditional on the estimated regime labels (stated limitation).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Eigendecomposition of the regime-conditional correlation matrices on the same balanced window; effective bets = participation ratio of eigenvalue shares.
- Every universe concentrates in stress: PC1 share up, effective bets down.
- Panel B is nearly degenerate in stress: PC1 explains 89% of variance, 1.26 effective bets across six markets.
- Panel A is subtler: average correlation was flat, yet concentration still rises - the reshuffle loads risk-on and safe-haven blocks onto the SAME leading axis.
- Portfolio reading: you lose roughly one-fifth of an independent bet in the cross-asset panel, and almost everything in international equity.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Forbes-Rigobon (2002): a measured correlation rises automatically when common-factor variance rises, even with an unchanged relationship.
- Figure: circles = raw stress-minus-calm change, diamonds = after deflating by the SPY variance shock; every raw 'breakdown' slides back below the 0.10 threshold.
- Language matters: what investors experience is real comovement, but it is INTERDEPENDENCE in a high-volatility state, not a structural break (contagion).
- The asymmetry is the practical finding: fragility is concentrated in equities; the cross-asset hedges keep - and even strengthen - their diversifying role.
- Honest caveat: the correction is exact only under a single-factor, variance-only regime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Position this as a supplement/demo, not a result: same DuckDB, read-only, purely for exploring the published numbers.
- The two interactions worth demoing live: the regime-threshold slider and the pair drill-down with rolling correlation (the 2022 SPY-TLT flip is visible to the naked eye there).
- Deployment plan: Streamlit Community Cloud; the 25 MB DuckDB ships with the repo.
- Be explicit that screenshots are TODO - the deck contains no mocked dashboard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Three-sentence summary: stress concentrates risk in realized terms; the rise is volatility-driven interdependence rather than structural contagion; and the exposures that keep diversifying are genuinely different assets - sovereign duration and gold - not more equities.
- Keep claims diagnostic, not prescriptive: we evaluate diversification under regimes; we do not propose an allocation rule.
- The 2022 qualification shows the honest limit: the regime label does not identify the macro shock behind the stress.
- Close with reproducibility: one command rebuilds the database, all figures, and the report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Markowitz: portfolio risk depends on co-movement, not the number of assets.</a:t>
            </a:r>
          </a:p>
          <a:p>
            <a:r>
              <a:t>- Equal-weight formula (report appendix): idiosyncratic risk dies at 1/N, but sigma_p converges to sqrt(rho-bar) x sigma.</a:t>
            </a:r>
          </a:p>
          <a:p>
            <a:r>
              <a:t>- With the measured calm cross-asset rho-bar of 0.20 the floor is 0.44; at the stress international-equity rho-bar of 0.87 it is 0.93 — adding markets buys almost nothing.</a:t>
            </a:r>
          </a:p>
          <a:p>
            <a:r>
              <a:t>- So the entire question is whether rho-bar stays where the calm sample says it is.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GFC window (Oct 2007 - Jun 2009): SPY -38% at window end, TLT +14%, GLD +23% — the textbook flight-to-quality hedge worked.</a:t>
            </a:r>
          </a:p>
          <a:p>
            <a:r>
              <a:t>- 2022-23 window: SPY recovered to -10%, but TLT finished -39% — deeper than equities; only gold held (+9%).</a:t>
            </a:r>
          </a:p>
          <a:p>
            <a:r>
              <a:t>- Same word 'stress', opposite hedge behaviour -&gt; motivates regime-conditional, episode-aware analysis instead of one full-sample correlation.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Stress-minus-calm difference matrix for the cross-asset panel.</a:t>
            </a:r>
          </a:p>
          <a:p>
            <a:r>
              <a:t>- Warm block: SPY-VNQ +0.21, DBC/USO-VNQ ~ +0.23 — the risk-on complex converges.</a:t>
            </a:r>
          </a:p>
          <a:p>
            <a:r>
              <a:t>- Cool block: TLT-VNQ -0.37, TLT-AGG -0.23 — duration decouples further.</a:t>
            </a:r>
          </a:p>
          <a:p>
            <a:r>
              <a:t>- 61% of the 36 pairs FALL in stress; both moves load one risk-on/risk-off axis, so the average stays flat while the structure rotates.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Fisher-z assumes i.i.d. Gaussian days: flags 73 of 91 combined pairs as significant.</a:t>
            </a:r>
          </a:p>
          <a:p>
            <a:r>
              <a:t>- The 21-day circular block bootstrap keeps volatility clustering: 50 survive FDR control.</a:t>
            </a:r>
          </a:p>
          <a:p>
            <a:r>
              <a:t>- Every bootstrap discovery is also a Fisher discovery — the extra 23 are what the i.i.d. assumption fabricates.</a:t>
            </a:r>
          </a:p>
          <a:p>
            <a:r>
              <a:t>- Concrete case: SPY-AGG delta +0.08 -&gt; Fisher p = 0.008, bootstrap p = 0.27.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Calm cross-asset panel: two comparable axes — risk (30.8%) and rates (29.0%).</a:t>
            </a:r>
          </a:p>
          <a:p>
            <a:r>
              <a:t>- Stress: the leading axis pulls away (37.4% vs 23.9%).</a:t>
            </a:r>
          </a:p>
          <a:p>
            <a:r>
              <a:t>- Top-3 cumulative share barely moves (~76%): variance is reallocated, not created.</a:t>
            </a:r>
          </a:p>
          <a:p>
            <a:r>
              <a:t>- Effective bets fall 4.52 -&gt; 4.33: about one-fifth of an independent bet lost.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Forbes-Rigobon (2002): with an unchanged linear relationship, a more volatile common factor mechanically raises the measured correlation.</a:t>
            </a:r>
          </a:p>
          <a:p>
            <a:r>
              <a:t>- SPY's stress variance is x3.97 its calm variance (delta = 2.97).</a:t>
            </a:r>
          </a:p>
          <a:p>
            <a:r>
              <a:t>- At that shock a true rho of 0.50 is MEASURED as 0.75 with zero change in dependence.</a:t>
            </a:r>
          </a:p>
          <a:p>
            <a:r>
              <a:t>- Hence the adjustment: deflate each stress correlation by its variance shock before calling anything contagion.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Conservative pair-max adjustment, non-SPY pairs only.</a:t>
            </a:r>
          </a:p>
          <a:p>
            <a:r>
              <a:t>- Cross-asset panel: 19 of 28 pairs are genuinely resilient (green) — their correlation FELL in stress; only 2 volatility-sensitive.</a:t>
            </a:r>
          </a:p>
          <a:p>
            <a:r>
              <a:t>- International equity: 0 of 10 resilient, 7 volatility-bias-sensitive.</a:t>
            </a:r>
          </a:p>
          <a:p>
            <a:r>
              <a:t>- Diversification that survives adjustment lives across asset classes, not across borders.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- TLT: resilient on average (stress rho vs SPY -0.36) but episode-dependent — +0.10 in 2022-23.</a:t>
            </a:r>
          </a:p>
          <a:p>
            <a:r>
              <a:t>- GLD: steady across every episode ([+0.01, +0.15]).</a:t>
            </a:r>
          </a:p>
          <a:p>
            <a:r>
              <a:t>- VNQ: equity in disguise — tightens with stocks, hedges decouple from it.</a:t>
            </a:r>
          </a:p>
          <a:p>
            <a:r>
              <a:t>- International equity: uniform tightening, PC1 89%, no resilient pair.</a:t>
            </a:r>
          </a:p>
          <a:p>
            <a:r>
              <a:t>- Takeaway: different risk drivers, not more assets or more countries.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Relationship Id="rId4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32688"/>
            <a:ext cx="109728" cy="109728"/>
          </a:xfrm>
          <a:prstGeom prst="ellipse">
            <a:avLst/>
          </a:prstGeom>
          <a:solidFill>
            <a:srgbClr val="4C78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658368" y="932688"/>
            <a:ext cx="109728" cy="109728"/>
          </a:xfrm>
          <a:prstGeom prst="ellipse">
            <a:avLst/>
          </a:prstGeom>
          <a:solidFill>
            <a:srgbClr val="B222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Until It Isn't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084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Spikes, Portfolio Fragility, and True Diversification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7249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3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diversification survive precisely when it is needed most?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 Saliola Bucelli · Florian Säwert · Timo Baumgartner</a:t>
            </a:r>
            <a:endParaRPr lang="en-US" sz="1300" dirty="0"/>
          </a:p>
          <a:p>
            <a:pPr marL="0" indent="0">
              <a:buNone/>
            </a:pPr>
            <a:r>
              <a:rPr lang="en-US" sz="11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Seminar: Data Science in Finance — Technical University of Munich</a:t>
            </a:r>
            <a:endParaRPr lang="en-US" sz="1300" dirty="0"/>
          </a:p>
        </p:txBody>
      </p:sp>
      <p:pic>
        <p:nvPicPr>
          <p:cNvPr id="8" name="Picture 7" descr="tu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  <p:pic>
        <p:nvPicPr>
          <p:cNvPr id="9" name="Picture 8" descr="fig_title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90288"/>
            <a:ext cx="9144000" cy="54864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1188720"/>
            <a:ext cx="91440" cy="91440"/>
          </a:xfrm>
          <a:prstGeom prst="rect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4652" y="1188720"/>
            <a:ext cx="91440" cy="9144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08813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60">
                <a:solidFill>
                  <a:srgbClr val="9AA4B2"/>
                </a:solidFill>
                <a:latin typeface="Calibri"/>
              </a:rPr>
              <a:t>PART 01  ·  THE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517904"/>
            <a:ext cx="20116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0" b="1" i="0">
                <a:solidFill>
                  <a:srgbClr val="CADCFC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847088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Does diversification survive when it is needed most?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2889504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9AA4B2"/>
                </a:solidFill>
                <a:latin typeface="Calibri"/>
              </a:rPr>
              <a:t>Why a full-sample correlation is the wrong lens for crisis risk.</a:t>
            </a:r>
          </a:p>
        </p:txBody>
      </p:sp>
      <p:pic>
        <p:nvPicPr>
          <p:cNvPr id="8" name="Picture 7" descr="t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4C78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85216" y="310896"/>
            <a:ext cx="82296" cy="82296"/>
          </a:xfrm>
          <a:prstGeom prst="ellipse">
            <a:avLst/>
          </a:prstGeom>
          <a:solidFill>
            <a:srgbClr val="B222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Diversification looks safe in calm markets — and thins out exactly in stress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429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Unconditional correlations blend calm and crisis; they understate co-movement when it matters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2008, 2020, 2022: broad drawdowns hit most asset sleeves at once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pairwise correlations rise under stress — and which hedges keep working?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condition the whole dependence structure on an explicit, data-driven stress regime</a:t>
            </a:r>
            <a:endParaRPr lang="en-US" sz="1300" dirty="0"/>
          </a:p>
        </p:txBody>
      </p:sp>
      <p:pic>
        <p:nvPicPr>
          <p:cNvPr id="7" name="Image 0" descr="C:/Users/flori/OneDrive/Desktop/Master/Semester Two/Data Science/Group5/outputs/01_descriptive_data/normalized_price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188720"/>
            <a:ext cx="4599432" cy="3566160"/>
          </a:xfrm>
          <a:prstGeom prst="rect">
            <a:avLst/>
          </a:prstGeom>
        </p:spPr>
      </p:pic>
      <p:pic>
        <p:nvPicPr>
          <p:cNvPr id="8" name="Picture 7" descr="tu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4C78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85216" y="310896"/>
            <a:ext cx="82296" cy="82296"/>
          </a:xfrm>
          <a:prstGeom prst="ellipse">
            <a:avLst/>
          </a:prstGeom>
          <a:solidFill>
            <a:srgbClr val="B222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deliberately different ETF panels on one balanced daily window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 — cross-asset (9 ETFs): SPY, SHY, TLT, AGG, HYG, GLD, DBC, USO, VNQ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B — international equity (6 ETFs): SPY, EFA, EEM, EWG, EWU, EWJ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log returns from adjusted closes (Yahoo Finance), stored in a DuckDB pipeline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window 12 Apr 2007 – 30 Dec 2025: 4,711 trading days (2,443 calm / 2,268 stress)</a:t>
            </a:r>
            <a:endParaRPr lang="en-US" sz="1300" dirty="0"/>
          </a:p>
        </p:txBody>
      </p:sp>
      <p:pic>
        <p:nvPicPr>
          <p:cNvPr id="7" name="Image 0" descr="C:/Users/flori/OneDrive/Desktop/Master/Semester Two/Data Science/Group5/outputs/01_descriptive_data/asset_coverage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325880"/>
            <a:ext cx="4663440" cy="3108960"/>
          </a:xfrm>
          <a:prstGeom prst="rect">
            <a:avLst/>
          </a:prstGeom>
        </p:spPr>
      </p:pic>
      <p:pic>
        <p:nvPicPr>
          <p:cNvPr id="8" name="Picture 7" descr="tu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1188720"/>
            <a:ext cx="91440" cy="91440"/>
          </a:xfrm>
          <a:prstGeom prst="rect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4652" y="1188720"/>
            <a:ext cx="91440" cy="9144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08813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60">
                <a:solidFill>
                  <a:srgbClr val="9AA4B2"/>
                </a:solidFill>
                <a:latin typeface="Calibri"/>
              </a:rPr>
              <a:t>PART 02  ·  DATING THE REGIME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517904"/>
            <a:ext cx="20116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0" b="1" i="0">
                <a:solidFill>
                  <a:srgbClr val="CADCFC"/>
                </a:solidFill>
                <a:latin typeface="Cambr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847088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A data-driven calm-versus-stress split of the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2889504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9AA4B2"/>
                </a:solidFill>
                <a:latin typeface="Calibri"/>
              </a:rPr>
              <a:t>A two-state Markov-switching model on monthly SPY returns.</a:t>
            </a:r>
          </a:p>
        </p:txBody>
      </p:sp>
      <p:pic>
        <p:nvPicPr>
          <p:cNvPr id="8" name="Picture 7" descr="t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4C78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85216" y="310896"/>
            <a:ext cx="82296" cy="82296"/>
          </a:xfrm>
          <a:prstGeom prst="ellipse">
            <a:avLst/>
          </a:prstGeom>
          <a:solidFill>
            <a:srgbClr val="B222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IDENTIFICATION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monthly returns are translated into stress probabilities</a:t>
            </a:r>
            <a:endParaRPr lang="en-US" sz="2200" dirty="0"/>
          </a:p>
        </p:txBody>
      </p:sp>
      <p:pic>
        <p:nvPicPr>
          <p:cNvPr id="6" name="Image 0" descr="C:/Users/flori/OneDrive/Desktop/Master/Semester Two/Data Science/Group5/outputs/figures/markov_probability_snapsh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6" y="1115568"/>
            <a:ext cx="6519672" cy="3931920"/>
          </a:xfrm>
          <a:prstGeom prst="rect">
            <a:avLst/>
          </a:prstGeom>
        </p:spPr>
      </p:pic>
      <p:pic>
        <p:nvPicPr>
          <p:cNvPr id="7" name="Picture 6" descr="tu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4C78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85216" y="310896"/>
            <a:ext cx="82296" cy="82296"/>
          </a:xfrm>
          <a:prstGeom prst="ellipse">
            <a:avLst/>
          </a:prstGeom>
          <a:solidFill>
            <a:srgbClr val="B222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IDENTIFICATION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= the high-variance state of a two-state Markov-switching model on monthly SPY returns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311 months (2000–2025)   ·   stress share 47%   ·   expected spell ≈ 17 months   ·   BIC-preferred specification</a:t>
            </a:r>
            <a:endParaRPr lang="en-US" sz="1150" dirty="0"/>
          </a:p>
        </p:txBody>
      </p:sp>
      <p:pic>
        <p:nvPicPr>
          <p:cNvPr id="7" name="Image 0" descr="C:/Users/flori/OneDrive/Desktop/Master/Semester Two/Data Science/Group5/outputs/02_regimes/markov_chain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55648"/>
            <a:ext cx="7132320" cy="3328416"/>
          </a:xfrm>
          <a:prstGeom prst="rect">
            <a:avLst/>
          </a:prstGeom>
        </p:spPr>
      </p:pic>
      <p:pic>
        <p:nvPicPr>
          <p:cNvPr id="8" name="Picture 7" descr="tu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54F973-ED20-761D-40AC-4315D658D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688280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407BC0-96AD-5F4D-3972-93E546D90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0884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4C78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85216" y="310896"/>
            <a:ext cx="82296" cy="82296"/>
          </a:xfrm>
          <a:prstGeom prst="ellipse">
            <a:avLst/>
          </a:prstGeom>
          <a:solidFill>
            <a:srgbClr val="B222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dating: SPY with stress shading, probabilities, and label agreement</a:t>
            </a:r>
            <a:endParaRPr lang="en-US" sz="2200" dirty="0"/>
          </a:p>
        </p:txBody>
      </p:sp>
      <p:pic>
        <p:nvPicPr>
          <p:cNvPr id="6" name="Image 0" descr="C:/Users/flori/OneDrive/Desktop/Master/Semester Two/Data Science/Group5/outputs/02_regimes/markov_regime_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392" y="1371600"/>
            <a:ext cx="5166360" cy="3621024"/>
          </a:xfrm>
          <a:prstGeom prst="rect">
            <a:avLst/>
          </a:prstGeom>
        </p:spPr>
      </p:pic>
      <p:pic>
        <p:nvPicPr>
          <p:cNvPr id="7" name="Picture 6" descr="tu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1188720"/>
            <a:ext cx="91440" cy="91440"/>
          </a:xfrm>
          <a:prstGeom prst="rect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4652" y="1188720"/>
            <a:ext cx="91440" cy="91440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088136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60">
                <a:solidFill>
                  <a:srgbClr val="9AA4B2"/>
                </a:solidFill>
                <a:latin typeface="Calibri"/>
              </a:rPr>
              <a:t>PART 03  ·  WHAT BREAKS, AND WHAT 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517904"/>
            <a:ext cx="20116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0" b="1" i="0">
                <a:solidFill>
                  <a:srgbClr val="CADCFC"/>
                </a:solidFill>
                <a:latin typeface="Cambr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847088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Correlations, concentration, and the volatility correction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1408" y="2889504"/>
            <a:ext cx="6309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0" i="0">
                <a:solidFill>
                  <a:srgbClr val="9AA4B2"/>
                </a:solidFill>
                <a:latin typeface="Calibri"/>
              </a:rPr>
              <a:t>From pairwise co-movement to portfolio-level fragility.</a:t>
            </a:r>
          </a:p>
        </p:txBody>
      </p:sp>
      <p:pic>
        <p:nvPicPr>
          <p:cNvPr id="8" name="Picture 7" descr="tu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4C78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85216" y="310896"/>
            <a:ext cx="82296" cy="82296"/>
          </a:xfrm>
          <a:prstGeom prst="ellipse">
            <a:avLst/>
          </a:prstGeom>
          <a:solidFill>
            <a:srgbClr val="B222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— REGIME-CONDITIONAL CORRELATIONS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equity tightens uniformly in stress; the cross-asset panel reshuffles</a:t>
            </a:r>
            <a:endParaRPr lang="en-US" sz="2400" dirty="0"/>
          </a:p>
        </p:txBody>
      </p:sp>
      <p:pic>
        <p:nvPicPr>
          <p:cNvPr id="6" name="Image 0" descr="C:/Users/flori/OneDrive/Desktop/Master/Semester Two/Data Science/Group5/presentation/figures/calm_vs_stress_scatter_pa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70432"/>
            <a:ext cx="7680960" cy="33284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902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B: 0.74 → 0.87  (Δ +0.124)      </a:t>
            </a:r>
            <a:r>
              <a:rPr lang="en-US" sz="1250" b="1" dirty="0">
                <a:solidFill>
                  <a:srgbClr val="4C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A: 0.195 → 0.170  (Δ −0.025)      </a:t>
            </a: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+0.029</a:t>
            </a:r>
            <a:endParaRPr lang="en-US" sz="1250" dirty="0"/>
          </a:p>
        </p:txBody>
      </p:sp>
      <p:pic>
        <p:nvPicPr>
          <p:cNvPr id="8" name="Picture 7" descr="tu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4C78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85216" y="310896"/>
            <a:ext cx="82296" cy="82296"/>
          </a:xfrm>
          <a:prstGeom prst="ellipse">
            <a:avLst/>
          </a:prstGeom>
          <a:solidFill>
            <a:srgbClr val="B222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 — STRESS-EPISODE SPLIT (DESCRIPTIVE)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Treasury hedge is episode-dependent — it flipped in the 2022 inflation stress; gold was not</a:t>
            </a:r>
            <a:endParaRPr lang="en-US" sz="2400" dirty="0"/>
          </a:p>
        </p:txBody>
      </p:sp>
      <p:pic>
        <p:nvPicPr>
          <p:cNvPr id="6" name="Image 0" descr="C:/Users/flori/OneDrive/Desktop/Master/Semester Two/Data Science/Group5/outputs/figures/stress_episode_hedge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98448"/>
            <a:ext cx="7498080" cy="3054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4348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SPY–TLT on stress days: −0.48 (2007–19), −0.45 (2020–21) → +0.10 (2022–23); ~76% of stress days predate 2022.  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split only — same window, same labels, no new inference. It qualifies the pooled result; it does not overturn it.</a:t>
            </a:r>
            <a:endParaRPr lang="en-US" sz="1100" dirty="0"/>
          </a:p>
        </p:txBody>
      </p:sp>
      <p:pic>
        <p:nvPicPr>
          <p:cNvPr id="8" name="Picture 7" descr="tu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4C78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85216" y="310896"/>
            <a:ext cx="82296" cy="82296"/>
          </a:xfrm>
          <a:prstGeom prst="ellipse">
            <a:avLst/>
          </a:prstGeom>
          <a:solidFill>
            <a:srgbClr val="B222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— INFERENCE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the international-equity increase survives sampling uncertainty</a:t>
            </a:r>
            <a:endParaRPr lang="en-US" sz="2400" dirty="0"/>
          </a:p>
        </p:txBody>
      </p:sp>
      <p:pic>
        <p:nvPicPr>
          <p:cNvPr id="6" name="Image 0" descr="C:/Users/flori/OneDrive/Desktop/Master/Semester Two/Data Science/Group5/presentation/figures/bootstrap_universe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7863840" cy="2770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04164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block bootstrap (B = 2,000, 21-day blocks) preserves volatility clustering and regime persistence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A's flat average hides offsetting moves: 6 significant increases vs. 8 significant decreases (11 FDR-significant pairs)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classical Fisher-z test would flag 73 of 91 combined pairs; the block bootstrap retains 50 after FDR control</a:t>
            </a:r>
            <a:endParaRPr lang="en-US" sz="1150" dirty="0"/>
          </a:p>
        </p:txBody>
      </p:sp>
      <p:pic>
        <p:nvPicPr>
          <p:cNvPr id="8" name="Picture 7" descr="tu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4C78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85216" y="310896"/>
            <a:ext cx="82296" cy="82296"/>
          </a:xfrm>
          <a:prstGeom prst="ellipse">
            <a:avLst/>
          </a:prstGeom>
          <a:solidFill>
            <a:srgbClr val="B222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— CONCENTRATION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concentrates every universe onto fewer independent bets</a:t>
            </a:r>
            <a:endParaRPr lang="en-US" sz="2400" dirty="0"/>
          </a:p>
        </p:txBody>
      </p:sp>
      <p:pic>
        <p:nvPicPr>
          <p:cNvPr id="6" name="Image 0" descr="C:/Users/flori/OneDrive/Desktop/Master/Semester Two/Data Science/Group5/outputs/05_pca/pc1_share_calm_vs_st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4160520" cy="2157984"/>
          </a:xfrm>
          <a:prstGeom prst="rect">
            <a:avLst/>
          </a:prstGeom>
        </p:spPr>
      </p:pic>
      <p:pic>
        <p:nvPicPr>
          <p:cNvPr id="7" name="Image 1" descr="C:/Users/flori/OneDrive/Desktop/Master/Semester Two/Data Science/Group5/outputs/05_pca/effective_bets_calm_vs_st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88720"/>
            <a:ext cx="4160520" cy="21579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361188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FDF3F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5"/>
          <p:cNvSpPr/>
          <p:nvPr/>
        </p:nvSpPr>
        <p:spPr>
          <a:xfrm>
            <a:off x="685800" y="37033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1.58 → 1.26</a:t>
            </a:r>
            <a:endParaRPr lang="en-US" sz="2400" dirty="0"/>
          </a:p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B effective bets: six markets ≈ one bet in stress (PC1 share 89%)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4754880" y="361188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7"/>
          <p:cNvSpPr/>
          <p:nvPr/>
        </p:nvSpPr>
        <p:spPr>
          <a:xfrm>
            <a:off x="4937760" y="37033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C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 → 0.37</a:t>
            </a:r>
            <a:endParaRPr lang="en-US" sz="2400" dirty="0"/>
          </a:p>
          <a:p>
            <a:pPr marL="0" indent="0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 PC1 share: variance reallocates into one risk-on/risk-off axis (N_eff 4.52 → 4.33)</a:t>
            </a:r>
            <a:endParaRPr lang="en-US" sz="2400" dirty="0"/>
          </a:p>
        </p:txBody>
      </p:sp>
      <p:pic>
        <p:nvPicPr>
          <p:cNvPr id="12" name="Picture 11" descr="tu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4C78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85216" y="310896"/>
            <a:ext cx="82296" cy="82296"/>
          </a:xfrm>
          <a:prstGeom prst="ellipse">
            <a:avLst/>
          </a:prstGeom>
          <a:solidFill>
            <a:srgbClr val="B222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— FORBES–RIGOBON ADJUSTMENT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robust breakdown survives the volatility correction — interdependence, not contagion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stress variance mechanically inflates correlations; Forbes–Rigobon deflates each pair by its variance shock (SPY shock δ = 2.97)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robust breakdowns — in every universe, under both adjustment variants (market_spy and conservative pair_max)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 non-SPY pairs: 19 of 28 genuinely resilient — their correlations fall in stress (Treasuries, gold)</a:t>
            </a:r>
            <a:endParaRPr lang="en-US" sz="12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B: no resilient pair — the equity tightening is volatility-driven interdependence</a:t>
            </a:r>
            <a:endParaRPr lang="en-US" sz="1250" dirty="0"/>
          </a:p>
        </p:txBody>
      </p:sp>
      <p:pic>
        <p:nvPicPr>
          <p:cNvPr id="7" name="Image 0" descr="C:/Users/flori/OneDrive/Desktop/Master/Semester Two/Data Science/Group5/presentation/figures/forbes_rigobon_breakdown_survival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298448"/>
            <a:ext cx="4572000" cy="3227832"/>
          </a:xfrm>
          <a:prstGeom prst="rect">
            <a:avLst/>
          </a:prstGeom>
        </p:spPr>
      </p:pic>
      <p:pic>
        <p:nvPicPr>
          <p:cNvPr id="8" name="Picture 7" descr="tu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4C78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85216" y="310896"/>
            <a:ext cx="82296" cy="82296"/>
          </a:xfrm>
          <a:prstGeom prst="ellipse">
            <a:avLst/>
          </a:prstGeom>
          <a:solidFill>
            <a:srgbClr val="B222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— INTERACTIVE DEMO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Streamlit dashboard over the same DuckDB pipeline (in development)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2697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57784" y="1408176"/>
            <a:ext cx="2432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4C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KPIs: stress share, calm vs. stress correlations, effective bets per universe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1298448"/>
            <a:ext cx="2697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392424" y="1408176"/>
            <a:ext cx="2432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explorer</a:t>
            </a:r>
            <a:endParaRPr lang="en-US" sz="1250" dirty="0"/>
          </a:p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Stress-probability chart with 0.5 / 0.75 threshold slider; monthly vs. weekly regime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80760" y="1298448"/>
            <a:ext cx="2697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227064" y="1408176"/>
            <a:ext cx="2432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4C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explorer</a:t>
            </a:r>
            <a:endParaRPr lang="en-US" sz="1250" dirty="0"/>
          </a:p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/ stress / Δ heatmaps; pair drill-down with regime-coloured scatter + rolling correlation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2871216"/>
            <a:ext cx="2697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57784" y="2980944"/>
            <a:ext cx="2432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(PCA)</a:t>
            </a:r>
            <a:endParaRPr lang="en-US" sz="1250" dirty="0"/>
          </a:p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 spectra and effective-bets comparison by regime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46120" y="2871216"/>
            <a:ext cx="2697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392424" y="2980944"/>
            <a:ext cx="2432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4C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Forbes–Rigobon</a:t>
            </a:r>
            <a:endParaRPr lang="en-US" sz="1250" dirty="0"/>
          </a:p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vs. adjusted Δρ and breakdown-survival view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2871216"/>
            <a:ext cx="26974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9525">
            <a:solidFill>
              <a:srgbClr val="DDDDDD"/>
            </a:solidFill>
            <a:prstDash val="solid"/>
          </a:ln>
          <a:effectLst>
            <a:outerShdw blurRad="63500" dist="254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227064" y="2980944"/>
            <a:ext cx="24323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50" dirty="0"/>
          </a:p>
          <a:p>
            <a:pPr marL="0" indent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timeline, descriptive moments, QQ diagnostics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45902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page structure defined; reads the project database read-only — no recomputation in the app.  TODO: add screenshots once implemented (nothing here is a mocked result).</a:t>
            </a:r>
            <a:endParaRPr lang="en-US" sz="1000" dirty="0"/>
          </a:p>
        </p:txBody>
      </p:sp>
      <p:pic>
        <p:nvPicPr>
          <p:cNvPr id="19" name="Picture 18" descr="tu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2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4C78A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585216" y="310896"/>
            <a:ext cx="82296" cy="82296"/>
          </a:xfrm>
          <a:prstGeom prst="ellipse">
            <a:avLst/>
          </a:prstGeom>
          <a:solidFill>
            <a:srgbClr val="B2222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49808" y="2011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Diversification must be stress-regime tested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1499616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concentrates risk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rise and independent bets shrink — international equity compresses to nearly one factor (PC1 ≈ 89%)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414016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43000" y="2432304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interdependence, not contagion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Forbes–Rigobon volatility correction, no pair in any universe survives as a robust breakdown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346704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0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43000" y="3364992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Cross-asset hedges are resilient on average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and gold de-correlate further in most stress episodes — though the stock–Treasury hedge weakened in the 2022 inflation episode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43891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a diversifier by its stress-regime behaviour, not by full-sample averages.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773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regime timeline · pipeline flow.  Reproducible end-to-end: scripts/run_all.py + notebooks 01–06.</a:t>
            </a:r>
            <a:endParaRPr lang="en-US" sz="950" dirty="0"/>
          </a:p>
        </p:txBody>
      </p:sp>
      <p:pic>
        <p:nvPicPr>
          <p:cNvPr id="14" name="Picture 13" descr="tu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82296" cy="82296"/>
          </a:xfrm>
          <a:prstGeom prst="rect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9788" y="310896"/>
            <a:ext cx="82296" cy="8229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0116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6B7280"/>
                </a:solidFill>
                <a:latin typeface="Calibri"/>
              </a:rPr>
              <a:t>THE 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82296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62E"/>
                </a:solidFill>
                <a:latin typeface="Cambria"/>
              </a:rPr>
              <a:t>One free lunch — with a floor set by average correlation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81328"/>
            <a:ext cx="35204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Portfolio risk is driven by co-movement, not by the number of holdings (Markowitz, 1952)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Adding assets removes idiosyncratic risk — the average correlation ρ̄ sets the floor:  σₚ → √ρ̄ · σ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At the calm cross-asset ρ̄ = 0.20 the floor is 0.44 σ;  at the stress international-equity ρ̄ = 0.87 it is 0.93 σ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The whole promise rests on ρ̄ staying put when stress arrives — that is this paper's question</a:t>
            </a:r>
          </a:p>
        </p:txBody>
      </p:sp>
      <p:pic>
        <p:nvPicPr>
          <p:cNvPr id="8" name="Picture 7" descr="fig_free_lu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298448"/>
            <a:ext cx="4617720" cy="286943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82296" cy="82296"/>
          </a:xfrm>
          <a:prstGeom prst="rect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9788" y="310896"/>
            <a:ext cx="82296" cy="8229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0116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6B7280"/>
                </a:solidFill>
                <a:latin typeface="Calibri"/>
              </a:rPr>
              <a:t>THE WARNING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82296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62E"/>
                </a:solidFill>
                <a:latin typeface="Cambria"/>
              </a:rPr>
              <a:t>Two stress episodes, two different failure modes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  <p:pic>
        <p:nvPicPr>
          <p:cNvPr id="7" name="Picture 6" descr="fig_hedges_2008_20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89888"/>
            <a:ext cx="8229600" cy="28388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553712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7085"/>
                </a:solidFill>
                <a:latin typeface="Calibri"/>
              </a:rPr>
              <a:t>2008: Treasuries +14% and gold +23% cushioned a 38% equity fall.   2022–23: long Treasuries −39% — deeper than equities — and only gold held (+9%). Same “stress”, different anatomy.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82296" cy="82296"/>
          </a:xfrm>
          <a:prstGeom prst="rect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9788" y="310896"/>
            <a:ext cx="82296" cy="8229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0116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6B7280"/>
                </a:solidFill>
                <a:latin typeface="Calibri"/>
              </a:rPr>
              <a:t>RESULT 1 — THE RESHUFFLE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82296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62E"/>
                </a:solidFill>
                <a:latin typeface="Cambria"/>
              </a:rPr>
              <a:t>A flat average hides a rotation: risk-on tightens, hedges decouple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  <p:pic>
        <p:nvPicPr>
          <p:cNvPr id="7" name="Picture 6" descr="panel_a_cross_asset_stress_minus_calm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298448"/>
            <a:ext cx="4069080" cy="36033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63440" y="1554480"/>
            <a:ext cx="40233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Warm block — the risk-on complex converges: SPY–VNQ +0.21, DBC–VNQ and USO–VNQ ≈ +0.23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Cool block — the safe-haven sleeve decouples: TLT–VNQ −0.37, SHY–VNQ −0.31, TLT–AGG −0.23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61% of cross-asset pairs see their correlation fall in stress — the opposite of the textbook story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Both moves load the same risk-on/risk-off axis: the average barely moves while the structure rotates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82296" cy="82296"/>
          </a:xfrm>
          <a:prstGeom prst="rect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9788" y="310896"/>
            <a:ext cx="82296" cy="8229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0116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6B7280"/>
                </a:solidFill>
                <a:latin typeface="Calibri"/>
              </a:rPr>
              <a:t>RESULT 1 — HONEST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82296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62E"/>
                </a:solidFill>
                <a:latin typeface="Cambria"/>
              </a:rPr>
              <a:t>Respecting serial dependence deletes a third of the “discoveries”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  <p:pic>
        <p:nvPicPr>
          <p:cNvPr id="7" name="Picture 6" descr="bootstrap_vs_fish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298448"/>
            <a:ext cx="4069080" cy="35133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63440" y="1554480"/>
            <a:ext cx="40233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The classical Fisher-z test treats 4,711 clustered days as independent: 73 of 91 pairs look significant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The 21-day block bootstrap keeps volatility clustering and regime persistence: 50 survive FDR control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All 50 are also Fisher discoveries — the other 23 exist only under the i.i.d. illusion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Example: SPY–AGG Δρ = +0.08 → Fisher p = 0.008, but bootstrap p = 0.27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82296" cy="82296"/>
          </a:xfrm>
          <a:prstGeom prst="rect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9788" y="310896"/>
            <a:ext cx="82296" cy="8229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0116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6B7280"/>
                </a:solidFill>
                <a:latin typeface="Calibri"/>
              </a:rPr>
              <a:t>RESULT 2 —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82296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2262E"/>
                </a:solidFill>
                <a:latin typeface="Cambria"/>
              </a:rPr>
              <a:t>Stress does not create risk directions — it feeds the second axis into the first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554480"/>
            <a:ext cx="35204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Calm: the panel genuinely runs two axes side by side — a risk axis (30.8%) and a rates axis (29.0%)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Stress: the leading axis pulls away — 37.4% vs 23.9%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Top-3 cumulative share is unchanged (≈ 76%): variance migrates between axes, it is not created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Effective bets fall 4.52 → 4.33 — the portfolio quietly loses a fifth of an independent bet</a:t>
            </a:r>
          </a:p>
        </p:txBody>
      </p:sp>
      <p:pic>
        <p:nvPicPr>
          <p:cNvPr id="8" name="Picture 7" descr="fig_pca_spectr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298448"/>
            <a:ext cx="4617720" cy="317222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82296" cy="82296"/>
          </a:xfrm>
          <a:prstGeom prst="rect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9788" y="310896"/>
            <a:ext cx="82296" cy="8229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0116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6B7280"/>
                </a:solidFill>
                <a:latin typeface="Calibri"/>
              </a:rPr>
              <a:t>RESULT 3 — THE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82296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62E"/>
                </a:solidFill>
                <a:latin typeface="Cambria"/>
              </a:rPr>
              <a:t>Why higher volatility alone inflates measured correlation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554480"/>
            <a:ext cx="35204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Keep the relationship fixed and only raise the market factor's variance — the measured correlation rises anyway (Forbes–Rigobon, 2002)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SPY's variance is × 3.97 higher in stress (δ = 2.97)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At that shock, a true ρ = 0.50 is measured as ≈ 0.75 — with no change in dependence at all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300">
                <a:solidFill>
                  <a:srgbClr val="2B2B2B"/>
                </a:solidFill>
                <a:latin typeface="Calibri"/>
              </a:rPr>
              <a:t>•  So every stress correlation is deflated by its variance shock before we call anything “contagion”</a:t>
            </a:r>
          </a:p>
        </p:txBody>
      </p:sp>
      <p:pic>
        <p:nvPicPr>
          <p:cNvPr id="8" name="Picture 7" descr="fig_fr_mechani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298448"/>
            <a:ext cx="4617720" cy="31634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82296" cy="82296"/>
          </a:xfrm>
          <a:prstGeom prst="rect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9788" y="310896"/>
            <a:ext cx="82296" cy="8229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0116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6B7280"/>
                </a:solidFill>
                <a:latin typeface="Calibri"/>
              </a:rPr>
              <a:t>RESULT 3 — WHERE RESILIENCE LIVES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82296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62E"/>
                </a:solidFill>
                <a:latin typeface="Cambria"/>
              </a:rPr>
              <a:t>Resilience is a cross-asset property, not a geographic one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29844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7085"/>
                </a:solidFill>
                <a:latin typeface="Calibri"/>
              </a:rPr>
              <a:t>Conservative pair-max adjustment, non-SPY pairs · green = correlation fell in stress (resilient)</a:t>
            </a:r>
          </a:p>
        </p:txBody>
      </p:sp>
      <p:pic>
        <p:nvPicPr>
          <p:cNvPr id="8" name="Picture 7" descr="forbes_rigobon_pair_max_non_spy_raw_vs_adjus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1645920"/>
            <a:ext cx="6286500" cy="3017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700016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67085"/>
                </a:solidFill>
                <a:latin typeface="Calibri"/>
              </a:rPr>
              <a:t>Cross-asset: 19 of 28 pairs genuinely resilient — Treasuries and gold de-correlate in stress.   International equity: 0 of 10 resilient.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"/>
            <a:ext cx="82296" cy="82296"/>
          </a:xfrm>
          <a:prstGeom prst="rect">
            <a:avLst/>
          </a:prstGeom>
          <a:solidFill>
            <a:srgbClr val="4C7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9788" y="310896"/>
            <a:ext cx="82296" cy="82296"/>
          </a:xfrm>
          <a:prstGeom prst="rect">
            <a:avLst/>
          </a:prstGeom>
          <a:solidFill>
            <a:srgbClr val="B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0116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spc="300">
                <a:solidFill>
                  <a:srgbClr val="6B7280"/>
                </a:solidFill>
                <a:latin typeface="Calibri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82296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262E"/>
                </a:solidFill>
                <a:latin typeface="Cambria"/>
              </a:rPr>
              <a:t>A stress scorecard for the classic diversifiers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4" y="237744"/>
            <a:ext cx="566928" cy="2954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1371600"/>
            <a:ext cx="4041648" cy="1536192"/>
          </a:xfrm>
          <a:prstGeom prst="roundRect">
            <a:avLst>
              <a:gd name="adj" fmla="val 5500"/>
            </a:avLst>
          </a:prstGeom>
          <a:solidFill>
            <a:srgbClr val="F7F8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/>
            <a:r>
              <a:rPr sz="1300" b="1">
                <a:solidFill>
                  <a:srgbClr val="4C78A8"/>
                </a:solidFill>
                <a:latin typeface="Calibri"/>
              </a:rPr>
              <a:t>Long Treasuries (TLT) — conditional hedge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1100">
                <a:solidFill>
                  <a:srgbClr val="2B2B2B"/>
                </a:solidFill>
                <a:latin typeface="Calibri"/>
              </a:rPr>
              <a:t>Resilient on average: stress correlation with SPY of −0.36, decoupling further when equities fall. But episode-dependent — it flips to +0.10 in the 2022–23 inflation stress.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45152" y="1371600"/>
            <a:ext cx="4041648" cy="1536192"/>
          </a:xfrm>
          <a:prstGeom prst="roundRect">
            <a:avLst>
              <a:gd name="adj" fmla="val 5500"/>
            </a:avLst>
          </a:prstGeom>
          <a:solidFill>
            <a:srgbClr val="F7F8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/>
            <a:r>
              <a:rPr sz="1300" b="1">
                <a:solidFill>
                  <a:srgbClr val="B8860B"/>
                </a:solidFill>
                <a:latin typeface="Calibri"/>
              </a:rPr>
              <a:t>Gold (GLD) — the steady one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1100">
                <a:solidFill>
                  <a:srgbClr val="2B2B2B"/>
                </a:solidFill>
                <a:latin typeface="Calibri"/>
              </a:rPr>
              <a:t>Comparatively stable across stress types: SPY–GLD stays within [+0.01, +0.15] in every episode. No sign flips, no drama — episode-robust diversification.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54096"/>
            <a:ext cx="4041648" cy="1536192"/>
          </a:xfrm>
          <a:prstGeom prst="roundRect">
            <a:avLst>
              <a:gd name="adj" fmla="val 5500"/>
            </a:avLst>
          </a:prstGeom>
          <a:solidFill>
            <a:srgbClr val="F7F8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/>
            <a:r>
              <a:rPr sz="1300" b="1">
                <a:solidFill>
                  <a:srgbClr val="B22222"/>
                </a:solidFill>
                <a:latin typeface="Calibri"/>
              </a:rPr>
              <a:t>Listed real estate (VNQ) — equity in disguise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1100">
                <a:solidFill>
                  <a:srgbClr val="2B2B2B"/>
                </a:solidFill>
                <a:latin typeface="Calibri"/>
              </a:rPr>
              <a:t>Behaves like the risk-on complex: tightens with equities in stress (SPY–VNQ +0.21) while the true hedges decouple from it (TLT–VNQ −0.37).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5152" y="3054096"/>
            <a:ext cx="4041648" cy="1536192"/>
          </a:xfrm>
          <a:prstGeom prst="roundRect">
            <a:avLst>
              <a:gd name="adj" fmla="val 5500"/>
            </a:avLst>
          </a:prstGeom>
          <a:solidFill>
            <a:srgbClr val="F7F8FB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/>
            <a:r>
              <a:rPr sz="1300" b="1">
                <a:solidFill>
                  <a:srgbClr val="B22222"/>
                </a:solidFill>
                <a:latin typeface="Calibri"/>
              </a:rPr>
              <a:t>International equity — no crisis diversifier</a:t>
            </a:r>
          </a:p>
          <a:p>
            <a:pPr>
              <a:lnSpc>
                <a:spcPct val="112000"/>
              </a:lnSpc>
              <a:spcBef>
                <a:spcPts val="400"/>
              </a:spcBef>
            </a:pPr>
            <a:r>
              <a:rPr sz="1100">
                <a:solidFill>
                  <a:srgbClr val="2B2B2B"/>
                </a:solidFill>
                <a:latin typeface="Calibri"/>
              </a:rPr>
              <a:t>All 15 pairs tighten in stress; the common factor absorbs 89% of variance. Six markets deliver barely more than one effective bet exactly when breadth should pay.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18304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22262E"/>
                </a:solidFill>
                <a:latin typeface="Cambria"/>
              </a:rPr>
              <a:t>Stress-robust diversification needs genuinely different risk drivers — not more assets, and not more countries.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2481</Words>
  <Application>Microsoft Office PowerPoint</Application>
  <PresentationFormat>On-screen Show (16:9)</PresentationFormat>
  <Paragraphs>114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Until It Isn't: Correlation Spikes, Portfolio Fragility, and True Diversification</dc:title>
  <dc:subject>PptxGenJS Presentation</dc:subject>
  <dc:creator>Group 5 — TUM Data Science in Finance</dc:creator>
  <cp:lastModifiedBy>Florian Säwert</cp:lastModifiedBy>
  <cp:revision>1</cp:revision>
  <dcterms:created xsi:type="dcterms:W3CDTF">2026-07-03T16:27:03Z</dcterms:created>
  <dcterms:modified xsi:type="dcterms:W3CDTF">2026-07-04T10:06:10Z</dcterms:modified>
</cp:coreProperties>
</file>