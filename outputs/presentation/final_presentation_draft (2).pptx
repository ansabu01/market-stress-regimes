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21bd4e0be54a8f" /><Relationship Type="http://schemas.openxmlformats.org/officeDocument/2006/relationships/extended-properties" Target="/docProps/app.xml" Id="Rd7e12e9104c44c1a" /><Relationship Type="http://schemas.openxmlformats.org/officeDocument/2006/relationships/officeDocument" Target="/ppt/presentation.xml" Id="R8f8453a34fad46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53759890f14e6a"/>
  </p:sldMasterIdLst>
  <p:notesMasterIdLst>
    <p:notesMasterId xmlns:r="http://schemas.openxmlformats.org/officeDocument/2006/relationships" r:id="R3e61f1256556405a"/>
  </p:notesMasterIdLst>
  <p:sldIdLst>
    <p:sldId xmlns:r="http://schemas.openxmlformats.org/officeDocument/2006/relationships" id="256" r:id="R1bf93ce0af874ac2"/>
    <p:sldId xmlns:r="http://schemas.openxmlformats.org/officeDocument/2006/relationships" id="257" r:id="R5515a344239d4011"/>
    <p:sldId xmlns:r="http://schemas.openxmlformats.org/officeDocument/2006/relationships" id="258" r:id="R46a63ac6196a4f1b"/>
    <p:sldId xmlns:r="http://schemas.openxmlformats.org/officeDocument/2006/relationships" id="259" r:id="Rdbc0a29e4ef741be"/>
    <p:sldId xmlns:r="http://schemas.openxmlformats.org/officeDocument/2006/relationships" id="260" r:id="R33cf7b9221944c99"/>
    <p:sldId xmlns:r="http://schemas.openxmlformats.org/officeDocument/2006/relationships" id="261" r:id="Rb92570f060d345b7"/>
    <p:sldId xmlns:r="http://schemas.openxmlformats.org/officeDocument/2006/relationships" id="262" r:id="Re55128d2ce154008"/>
    <p:sldId xmlns:r="http://schemas.openxmlformats.org/officeDocument/2006/relationships" id="263" r:id="Re0a1c6a2a9504b95"/>
    <p:sldId xmlns:r="http://schemas.openxmlformats.org/officeDocument/2006/relationships" id="264" r:id="R56736f83ccbd4f35"/>
    <p:sldId xmlns:r="http://schemas.openxmlformats.org/officeDocument/2006/relationships" id="265" r:id="Rb364943e57f14324"/>
    <p:sldId xmlns:r="http://schemas.openxmlformats.org/officeDocument/2006/relationships" id="266" r:id="R8db9d13ef9d84dd2"/>
    <p:sldId xmlns:r="http://schemas.openxmlformats.org/officeDocument/2006/relationships" id="267" r:id="Rd46cfc6a5696447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1e793f8263400d" /><Relationship Type="http://schemas.openxmlformats.org/officeDocument/2006/relationships/slideMaster" Target="/ppt/slideMasters/slideMaster1.xml" Id="R2a53759890f14e6a" /><Relationship Type="http://schemas.openxmlformats.org/officeDocument/2006/relationships/notesMaster" Target="/ppt/notesMasters/notesMaster1.xml" Id="R3e61f1256556405a" /><Relationship Type="http://schemas.openxmlformats.org/officeDocument/2006/relationships/presProps" Target="/ppt/presProps.xml" Id="Rdd8262d010a74f8f" /><Relationship Type="http://schemas.openxmlformats.org/officeDocument/2006/relationships/tableStyles" Target="/ppt/tableStyles.xml" Id="Rc1d8d76062534a24" /><Relationship Type="http://schemas.openxmlformats.org/officeDocument/2006/relationships/slide" Target="/ppt/slides/slide1.xml" Id="R1bf93ce0af874ac2" /><Relationship Type="http://schemas.openxmlformats.org/officeDocument/2006/relationships/slide" Target="/ppt/slides/slide2.xml" Id="R5515a344239d4011" /><Relationship Type="http://schemas.openxmlformats.org/officeDocument/2006/relationships/slide" Target="/ppt/slides/slide3.xml" Id="R46a63ac6196a4f1b" /><Relationship Type="http://schemas.openxmlformats.org/officeDocument/2006/relationships/slide" Target="/ppt/slides/slide4.xml" Id="Rdbc0a29e4ef741be" /><Relationship Type="http://schemas.openxmlformats.org/officeDocument/2006/relationships/slide" Target="/ppt/slides/slide5.xml" Id="R33cf7b9221944c99" /><Relationship Type="http://schemas.openxmlformats.org/officeDocument/2006/relationships/slide" Target="/ppt/slides/slide6.xml" Id="Rb92570f060d345b7" /><Relationship Type="http://schemas.openxmlformats.org/officeDocument/2006/relationships/slide" Target="/ppt/slides/slide7.xml" Id="Re55128d2ce154008" /><Relationship Type="http://schemas.openxmlformats.org/officeDocument/2006/relationships/slide" Target="/ppt/slides/slide8.xml" Id="Re0a1c6a2a9504b95" /><Relationship Type="http://schemas.openxmlformats.org/officeDocument/2006/relationships/slide" Target="/ppt/slides/slide9.xml" Id="R56736f83ccbd4f35" /><Relationship Type="http://schemas.openxmlformats.org/officeDocument/2006/relationships/slide" Target="/ppt/slides/slide10.xml" Id="Rb364943e57f14324" /><Relationship Type="http://schemas.openxmlformats.org/officeDocument/2006/relationships/slide" Target="/ppt/slides/slide11.xml" Id="R8db9d13ef9d84dd2" /><Relationship Type="http://schemas.openxmlformats.org/officeDocument/2006/relationships/slide" Target="/ppt/slides/slide12.xml" Id="Rd46cfc6a569644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4a116dfb954a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d9f75140a44779" /><Relationship Type="http://schemas.openxmlformats.org/officeDocument/2006/relationships/notesMaster" Target="/ppt/notesMasters/notesMaster1.xml" Id="R059bc05cb9fa4e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8d6922fe424e9e" /><Relationship Type="http://schemas.openxmlformats.org/officeDocument/2006/relationships/notesMaster" Target="/ppt/notesMasters/notesMaster1.xml" Id="R2626e866de0f46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3d21d0956942dd" /><Relationship Type="http://schemas.openxmlformats.org/officeDocument/2006/relationships/notesMaster" Target="/ppt/notesMasters/notesMaster1.xml" Id="R1100acf9121240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0647eef3684886" /><Relationship Type="http://schemas.openxmlformats.org/officeDocument/2006/relationships/notesMaster" Target="/ppt/notesMasters/notesMaster1.xml" Id="R795be352018f4a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e30849e3d04167" /><Relationship Type="http://schemas.openxmlformats.org/officeDocument/2006/relationships/notesMaster" Target="/ppt/notesMasters/notesMaster1.xml" Id="R90dc40a687514a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0640ca07af4b82" /><Relationship Type="http://schemas.openxmlformats.org/officeDocument/2006/relationships/notesMaster" Target="/ppt/notesMasters/notesMaster1.xml" Id="Rb8e19eda89b649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96021e8ff743c8" /><Relationship Type="http://schemas.openxmlformats.org/officeDocument/2006/relationships/notesMaster" Target="/ppt/notesMasters/notesMaster1.xml" Id="R04a50035e9b141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b053f07da9499b" /><Relationship Type="http://schemas.openxmlformats.org/officeDocument/2006/relationships/notesMaster" Target="/ppt/notesMasters/notesMaster1.xml" Id="R0ef4332f85154d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53fe3a29934f56" /><Relationship Type="http://schemas.openxmlformats.org/officeDocument/2006/relationships/notesMaster" Target="/ppt/notesMasters/notesMaster1.xml" Id="Rc9a4c8fba0334f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b19910b3b14234" /><Relationship Type="http://schemas.openxmlformats.org/officeDocument/2006/relationships/notesMaster" Target="/ppt/notesMasters/notesMaster1.xml" Id="R0f66fd36bc8c48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a636ceaecb415b" /><Relationship Type="http://schemas.openxmlformats.org/officeDocument/2006/relationships/notesMaster" Target="/ppt/notesMasters/notesMaster1.xml" Id="R0863db28c1c749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ece1de01054f36" /><Relationship Type="http://schemas.openxmlformats.org/officeDocument/2006/relationships/notesMaster" Target="/ppt/notesMasters/notesMaster1.xml" Id="R115b26248a5944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exact research question from the report: whether diversification fails in market stress.</a:t>
            </a:r>
          </a:p>
          <a:p xmlns:a="http://schemas.openxmlformats.org/drawingml/2006/main">
            <a:r>
              <a:t>Frame the deck as diagnostic, not a portfolio-allocation recommendation.</a:t>
            </a:r>
          </a:p>
          <a:p xmlns:a="http://schemas.openxmlformats.org/drawingml/2006/main">
            <a:r>
              <a:t>Preview the central distinction: realized comovement can rise, but Forbes-Rigobon asks whether this is contagion or volatility-driven interdependence.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Motivate the analysis with the report's portfolio-risk setup: covariance and correlation are central inputs.</a:t>
            </a:r>
          </a:p>
          <a:p xmlns:a="http://schemas.openxmlformats.org/drawingml/2006/main">
            <a:r>
              <a:t>A full-sample covariance matrix can understate joint risk if the conditional covariance matrix changes in stress.</a:t>
            </a:r>
          </a:p>
          <a:p xmlns:a="http://schemas.openxmlformats.org/drawingml/2006/main">
            <a:r>
              <a:t>Emphasize that the project does not build or backtest strategies; it diagnoses whether diversification is regime-dependent.</a:t>
            </a:r>
          </a:p>
          <a:p xmlns:a="http://schemas.openxmlformats.org/drawingml/2006/main">
            <a:r>
              <a:t>Bridge to the empirical design: identify regimes first, then condition every downstream statistic on those regimes.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Panel A is deliberately cross-asset and parsimonious rather than exhaustive.</a:t>
            </a:r>
          </a:p>
          <a:p xmlns:a="http://schemas.openxmlformats.org/drawingml/2006/main">
            <a:r>
              <a:t>Panel B holds the asset class fixed as equities and varies geography.</a:t>
            </a:r>
          </a:p>
          <a:p xmlns:a="http://schemas.openxmlformats.org/drawingml/2006/main">
            <a:r>
              <a:t>The common balanced window starts after HYG enters, so all matrices are internally comparable and positive semidefinite.</a:t>
            </a:r>
          </a:p>
          <a:p xmlns:a="http://schemas.openxmlformats.org/drawingml/2006/main">
            <a:r>
              <a:t>Use the sample-size line to reassure the audience that Panel A, Panel B, and the combined universe are compared on the same days.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model in one sentence: monthly SPY returns are assigned to one of two latent states.</a:t>
            </a:r>
          </a:p>
          <a:p xmlns:a="http://schemas.openxmlformats.org/drawingml/2006/main">
            <a:r>
              <a:t>Stress is not named in advance; it is the fitted state with higher variance.</a:t>
            </a:r>
          </a:p>
          <a:p xmlns:a="http://schemas.openxmlformats.org/drawingml/2006/main">
            <a:r>
              <a:t>The transition matrix shows both states are persistent, so the model does not flicker daily.</a:t>
            </a:r>
          </a:p>
          <a:p xmlns:a="http://schemas.openxmlformats.org/drawingml/2006/main">
            <a:r>
              <a:t>Use the volatility contrast to justify why this is a stress regime.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the model was not given crisis dates; it identifies high-variance episodes from returns.</a:t>
            </a:r>
          </a:p>
          <a:p xmlns:a="http://schemas.openxmlformats.org/drawingml/2006/main">
            <a:r>
              <a:t>The top panel shows SPY with stress shading, and the middle panel shows smoothed stress probabilities.</a:t>
            </a:r>
          </a:p>
          <a:p xmlns:a="http://schemas.openxmlformats.org/drawingml/2006/main">
            <a:r>
              <a:t>The report validates the monthly regime against a rule-based VIX-plus-drawdown label and a weekly Markov re-estimation.</a:t>
            </a:r>
          </a:p>
          <a:p xmlns:a="http://schemas.openxmlformats.org/drawingml/2006/main">
            <a:r>
              <a:t>Do not overstate forecasting: these are smoothed ex-post probabilities used for historical regime conditioning.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delta rho as stress correlation minus calm correlation.</a:t>
            </a:r>
          </a:p>
          <a:p xmlns:a="http://schemas.openxmlformats.org/drawingml/2006/main">
            <a:r>
              <a:t>Panel B lies entirely to the right of zero, so geographic equity diversification weakens uniformly.</a:t>
            </a:r>
          </a:p>
          <a:p xmlns:a="http://schemas.openxmlformats.org/drawingml/2006/main">
            <a:r>
              <a:t>Panel A is not a textbook all-correlations-rise story; the average is near zero because risk-on tightening is offset by safe-haven decoupling.</a:t>
            </a:r>
          </a:p>
          <a:p xmlns:a="http://schemas.openxmlformats.org/drawingml/2006/main">
            <a:r>
              <a:t>Use the pair classes carefully: raw breakdown is descriptive and still needs uncertainty and Forbes-Rigobon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circular moving-block bootstrap: whole cross-sectional rows and regime labels are resampled in 21-day blocks.</a:t>
            </a:r>
          </a:p>
          <a:p xmlns:a="http://schemas.openxmlformats.org/drawingml/2006/main">
            <a:r>
              <a:t>Panel B is the only universe with an average effect unambiguously above zero.</a:t>
            </a:r>
          </a:p>
          <a:p xmlns:a="http://schemas.openxmlformats.org/drawingml/2006/main">
            <a:r>
              <a:t>Panel A's average is statistically flat, but its pair-level reshuffle is real: 6 significant increases and 8 significant decreases at 95%, with 11 FDR pairs.</a:t>
            </a:r>
          </a:p>
          <a:p xmlns:a="http://schemas.openxmlformats.org/drawingml/2006/main">
            <a:r>
              <a:t>This slide is about uncertainty, not the economic mechanism; the mechanism comes next through PCA and Forbes-Rigobon.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effective bets as an eigenvalue-based measure of how many independent directions remain.</a:t>
            </a:r>
          </a:p>
          <a:p xmlns:a="http://schemas.openxmlformats.org/drawingml/2006/main">
            <a:r>
              <a:t>Every universe satisfies the report's concentration verdict: PC1 share rises and effective bets fall.</a:t>
            </a:r>
          </a:p>
          <a:p xmlns:a="http://schemas.openxmlformats.org/drawingml/2006/main">
            <a:r>
              <a:t>Panel A's PCA result is important because diversification erodes at the portfolio level even though its average pairwise correlation does not rise.</a:t>
            </a:r>
          </a:p>
          <a:p xmlns:a="http://schemas.openxmlformats.org/drawingml/2006/main">
            <a:r>
              <a:t>Panel B is the starkest case: the global equity factor becomes almost the only direction in stress.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Forbes-Rigobon complements rather than overturns raw correlations.</a:t>
            </a:r>
          </a:p>
          <a:p xmlns:a="http://schemas.openxmlformats.org/drawingml/2006/main">
            <a:r>
              <a:t>Raw correlations remain what a portfolio holder experiences in stress.</a:t>
            </a:r>
          </a:p>
          <a:p xmlns:a="http://schemas.openxmlformats.org/drawingml/2006/main">
            <a:r>
              <a:t>The adjustment asks whether the dependence relationship changed after accounting for the higher volatility state.</a:t>
            </a:r>
          </a:p>
          <a:p xmlns:a="http://schemas.openxmlformats.org/drawingml/2006/main">
            <a:r>
              <a:t>The report's headline is no robust contagion-style breakdown, but heightened volatility-driven interdependence.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optional nuance slide, but it uses implemented Forbes-Rigobon outputs rather than adding new stress-type analysis.</a:t>
            </a:r>
          </a:p>
          <a:p xmlns:a="http://schemas.openxmlformats.org/drawingml/2006/main">
            <a:r>
              <a:t>The report mentions 2022 as one identified stress episode, but there is no separate implemented 2022 stock-bond hedge-flip analysis in the active outputs.</a:t>
            </a:r>
          </a:p>
          <a:p xmlns:a="http://schemas.openxmlformats.org/drawingml/2006/main">
            <a:r>
              <a:t>Stress the asymmetry: international equity tightening is not structurally robust after adjustment, while many cross-asset hedges actually decouple.</a:t>
            </a:r>
          </a:p>
          <a:p xmlns:a="http://schemas.openxmlformats.org/drawingml/2006/main">
            <a:r>
              <a:t>Keep the portfolio-management implication qualitative: stress-robust diversification needs different risk drivers, not merely more countries.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intentionally marked TODO because no Streamlit dashboard files were found in the active repo.</a:t>
            </a:r>
          </a:p>
          <a:p xmlns:a="http://schemas.openxmlformats.org/drawingml/2006/main">
            <a:r>
              <a:t>If the team adds a dashboard, position it as a supplement for exploring the already-generated outputs.</a:t>
            </a:r>
          </a:p>
          <a:p xmlns:a="http://schemas.openxmlformats.org/drawingml/2006/main">
            <a:r>
              <a:t>Possible app pages should mirror existing artifacts: regime timeline, correlation pairs, bootstrap inference, PCA concentration, and Forbes-Rigobon adjustment.</a:t>
            </a:r>
          </a:p>
          <a:p xmlns:a="http://schemas.openxmlformats.org/drawingml/2006/main">
            <a:r>
              <a:t>Do not invent screenshots or dashboard results for the seminar.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answering the opening question with the report's qualified answer: diversification weakens in stress, but not all sleeves fail equally.</a:t>
            </a:r>
          </a:p>
          <a:p xmlns:a="http://schemas.openxmlformats.org/drawingml/2006/main">
            <a:r>
              <a:t>Equity geography is fragile; cross-asset hedges are resilient on average.</a:t>
            </a:r>
          </a:p>
          <a:p xmlns:a="http://schemas.openxmlformats.org/drawingml/2006/main">
            <a:r>
              <a:t>Avoid overclaiming: these are diagnostics, not direct allocation rules.</a:t>
            </a:r>
          </a:p>
          <a:p xmlns:a="http://schemas.openxmlformats.org/drawingml/2006/main">
            <a:r>
              <a:t>End with the method implication: stress-regime testing should be part of diversification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89e1dcf7345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f6652224d74217" /><Relationship Type="http://schemas.openxmlformats.org/officeDocument/2006/relationships/slideLayout" Target="/ppt/slideLayouts/slideLayout1.xml" Id="R23efb95a6b7a45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efb95a6b7a45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0054291f54bdf" /><Relationship Type="http://schemas.openxmlformats.org/officeDocument/2006/relationships/notesSlide" Target="/ppt/notesSlides/notesSlide1.xml" Id="R1f20206ede4a4f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d7796d2154156" /><Relationship Type="http://schemas.openxmlformats.org/officeDocument/2006/relationships/notesSlide" Target="/ppt/notesSlides/notesSlide2.xml" Id="R2e32aa0461b848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0ab1e8f324967" /><Relationship Type="http://schemas.openxmlformats.org/officeDocument/2006/relationships/notesSlide" Target="/ppt/notesSlides/notesSlide3.xml" Id="Ra2bc0f9d1cec4a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b9a7ebd214195" /><Relationship Type="http://schemas.openxmlformats.org/officeDocument/2006/relationships/image" Target="/ppt/media/image.png" Id="R4d6deda4b04a47b3" /><Relationship Type="http://schemas.openxmlformats.org/officeDocument/2006/relationships/notesSlide" Target="/ppt/notesSlides/notesSlide4.xml" Id="R09cf4bc5a05e43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6b8ff0a82420d" /><Relationship Type="http://schemas.openxmlformats.org/officeDocument/2006/relationships/image" Target="/ppt/media/image2.png" Id="R5915938e7d3c4f79" /><Relationship Type="http://schemas.openxmlformats.org/officeDocument/2006/relationships/notesSlide" Target="/ppt/notesSlides/notesSlide5.xml" Id="Rc978f62bb85543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0a04becd54b9d" /><Relationship Type="http://schemas.openxmlformats.org/officeDocument/2006/relationships/image" Target="/ppt/media/image3.png" Id="R0990607259a04d13" /><Relationship Type="http://schemas.openxmlformats.org/officeDocument/2006/relationships/notesSlide" Target="/ppt/notesSlides/notesSlide6.xml" Id="R98cf7a19916e43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5afd5de114aef" /><Relationship Type="http://schemas.openxmlformats.org/officeDocument/2006/relationships/image" Target="/ppt/media/image4.png" Id="R7ef693dcaff7414c" /><Relationship Type="http://schemas.openxmlformats.org/officeDocument/2006/relationships/notesSlide" Target="/ppt/notesSlides/notesSlide7.xml" Id="R753c1e32feb64f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52587f7054254" /><Relationship Type="http://schemas.openxmlformats.org/officeDocument/2006/relationships/image" Target="/ppt/media/image5.png" Id="R93f2357bb3664f31" /><Relationship Type="http://schemas.openxmlformats.org/officeDocument/2006/relationships/notesSlide" Target="/ppt/notesSlides/notesSlide8.xml" Id="R1bbccdf32e1644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3447e9ee94d68" /><Relationship Type="http://schemas.openxmlformats.org/officeDocument/2006/relationships/image" Target="/ppt/media/image6.png" Id="R97327ae5ece04436" /><Relationship Type="http://schemas.openxmlformats.org/officeDocument/2006/relationships/notesSlide" Target="/ppt/notesSlides/notesSlide9.xml" Id="R096d470c2d6a48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bdcc1df334736" /><Relationship Type="http://schemas.openxmlformats.org/officeDocument/2006/relationships/image" Target="/ppt/media/image7.png" Id="Rf24958575be04786" /><Relationship Type="http://schemas.openxmlformats.org/officeDocument/2006/relationships/notesSlide" Target="/ppt/notesSlides/notesSlide10.xml" Id="Rce863e6e4d7f49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fdda07c914e77" /><Relationship Type="http://schemas.openxmlformats.org/officeDocument/2006/relationships/notesSlide" Target="/ppt/notesSlides/notesSlide11.xml" Id="Rd2d4ff8a5ab841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9e3eecde349ec" /><Relationship Type="http://schemas.openxmlformats.org/officeDocument/2006/relationships/notesSlide" Target="/ppt/notesSlides/notesSlide12.xml" Id="R522081cc928f4a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30A502-83E4-4FDF-B0ED-AA76BC9D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994FA-57BC-44A8-B136-7A8FDF80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477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Safe Until It Isn't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1E793-3E56-47D3-B2C9-0244EEB2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Correlation spikes, portfolio fragility, and true diversification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90D2B-EA67-43E7-9006-C40F01CA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33A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D1093-BAE9-4D7E-86B1-798FBA77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B33A4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33A42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DD064-5082-4133-8691-6ADBDE50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Does diversification fail exactly when it is needed - during market stress?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5CC1D-2FFB-41B3-BD00-14C3FE52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Data Science in Finance seminar | Group 5 | 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55087-6C05-438E-9BEA-E305584F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Andrea Saliola Bucelli | Florian | Timo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C19D3-FB80-4450-B756-98877E53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E747E-6CB1-41BE-B04B-D73BBB4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Source: reports/final_report.pdf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5E4BF-2587-44D2-8FC2-FBF7FBFE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78872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1DB532-D2B9-4C7D-B256-8A25D551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577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8CCDE-0AD9-49EF-9F84-6DC46162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Diversification looks safer when calm and stress are averaged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D8A98-8734-4300-82FC-4C96B7E4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567DB-913A-4AF3-8EE3-F71A6A35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Mean-variance diversification depends on the covariance matrix. The problem is not diversification as an idea; it is treating one full-sample matrix as if it were stable across regimes.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364BF-DFFD-40F5-B8E8-495A6188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8054A-CBCC-4457-8F65-6736A2A7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Full sample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4BB66-82D6-4EB3-8C03-29B72F15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384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Calm and crisis days are blended.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7D71A-BFF8-4705-A740-80AC7A14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B33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AAC31-5CDC-4386-AB98-DD140170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0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Stress regime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51BF9-D165-4C57-BAD8-62DA7942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147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The same assets can collapse onto fewer independent directions.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81E70-6FC6-4D74-BBD6-35BE4E09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F9A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669BB-3B82-4A49-B90B-935AC32C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Diagnostic 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4EFCD-EF8F-4861-A72A-490FB46E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910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Separate experienced comovement from volatility-driven measurement bias.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C8452-2AD5-4AD8-8697-2A910D04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62100"/>
            <a:ext cx="2714625" cy="314325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6635C-F872-4560-ACDF-4BF77BB9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859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report's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6B2A7-7BA9-4FC0-AF62-F5FC5938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19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1. Estimate calm and stress regimes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2. Compare raw correlations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3. Bootstrap the changes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4. Test portfolio concentration with PCA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5. Apply Forbes-Rigobon adjustment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2D7B8-E927-48FB-B5CC-E6FC7520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0483C8-5815-476E-AF70-7EBF499D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Source: final_report.pdf, Sections 1 and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8D7A9D-C7E7-4D6F-8446-FE81AAB1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87347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CDCB08-A6C2-4996-A4F6-E892F69A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577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9A3C7-3A0B-42DB-B445-6F636C27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Two ETF panels separate asset-class diversification from equity geography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401B5-3AF0-409D-BDB7-48FE6056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1AF71-0E1B-4179-8241-B26929D2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144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Daily adjusted ETF log returns are evaluated on a common balanced window so correlations and PCA matrices are comparable across universes.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FC002-28CE-4D6E-A460-3B13C0BC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4953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26288-E33D-4264-9A30-A5EF1DF2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857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7B91B-4296-4D56-92FC-C61E9FA7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907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Panel A: cross-asset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AB3B5-ABD6-498F-982C-EA0ADB5D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67025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F9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5F91"/>
                </a:solidFill>
                <a:latin typeface="Aptos"/>
                <a:ea typeface="Aptos"/>
                <a:cs typeface="Aptos"/>
              </a:rPr>
              <a:t>SPY, SHY, TLT, AGG, HYG, GLD, DBC, USO, VNQ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21FAB-3F59-47A8-B2A4-77BE2D76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05225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U.S. equity, Treasury curve, aggregate and high-yield credit, gold, commodities, oil, and listed real estate.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D9919-436A-4ABB-A238-E46DD17C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4953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A7172-70EA-4977-B228-B35F5361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857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76010-9D57-4A90-9013-DAD1B694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907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Panel B: international equity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942FF-D1FB-41FC-AF47-0E0A0ECC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67025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D97B2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B28"/>
                </a:solidFill>
                <a:latin typeface="Aptos"/>
                <a:ea typeface="Aptos"/>
                <a:cs typeface="Aptos"/>
              </a:rPr>
              <a:t>SPY, EFA, EEM, EWG, EWU, EWJ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487B4-BE3D-4E21-B891-882A2227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05225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U.S., developed ex-U.S., emerging-market, Germany, U.K., and Japan equity exposures.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20715-D5DC-4F0E-B217-B4B7C18F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0"/>
            <a:ext cx="300037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EEDE6-1811-456D-A267-DD1341CC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76850"/>
            <a:ext cx="2695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12 Apr 2007 - 30 Dec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11529-A399-4061-A1AA-A1CB08DD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38800"/>
            <a:ext cx="2695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common return window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CEA537-F177-4CCC-86C1-7136DF9E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43500"/>
            <a:ext cx="1952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0554E-C220-4B53-A338-B18A7D62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7685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15F9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15F91"/>
                </a:solidFill>
                <a:latin typeface="Aptos"/>
                <a:ea typeface="Aptos"/>
                <a:cs typeface="Aptos"/>
              </a:rPr>
              <a:t>2,443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7503E-4C4A-48AF-983B-69BDA923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38800"/>
            <a:ext cx="1647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calm trading days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3B113-9011-4592-B5E2-E9F14B68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1952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9830D8-F4DD-48DD-A9FE-5822F0FA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7685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B33A4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33A42"/>
                </a:solidFill>
                <a:latin typeface="Aptos"/>
                <a:ea typeface="Aptos"/>
                <a:cs typeface="Aptos"/>
              </a:rPr>
              <a:t>2,268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6A89E-C1D8-4D4C-8249-170BEF45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638800"/>
            <a:ext cx="1647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stress trading days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A8B592-1056-4761-8DF9-78043674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0CCDF8-9800-4283-AA0A-DD33165E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2768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B33A4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33A42"/>
                </a:solidFill>
                <a:latin typeface="Aptos"/>
                <a:ea typeface="Aptos"/>
                <a:cs typeface="Aptos"/>
              </a:rPr>
              <a:t>48.1%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B31A0-37EA-44EB-9DF5-2CC7211D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63880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stress share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06B0EA-9E0F-4FC9-8888-F3EBF3FC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5D4D92-E125-4697-A988-3FB47A41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Source: final_report.pdf Section 3; src/settings/tickers.py; outputs/03_correlation_raw/correlation_summary.csv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8921D2-BD4A-4B52-967F-09CD8C6A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329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9CB153-E379-4CEF-ADC7-9FC3CE34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577"/>
                </a:solidFill>
                <a:latin typeface="Aptos"/>
                <a:ea typeface="Aptos"/>
                <a:cs typeface="Aptos"/>
              </a:rPr>
              <a:t>REGIME IDENTIFICATION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98C59-E02D-4B3B-8026-5E32C5FE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official stress label is the high-variance Markov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D59DE-D42B-46F7-A211-90C89D88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deda4b04a47b3"/>
          <a:stretch xmlns:a="http://schemas.openxmlformats.org/drawingml/2006/main"/>
        </p:blipFill>
        <p:spPr>
          <a:xfrm xmlns:a="http://schemas.openxmlformats.org/drawingml/2006/main">
            <a:off x="876300" y="1661077"/>
            <a:ext cx="7239000" cy="338344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ABF9C-BF4E-4CF2-9EC2-0C420C6F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24000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00520-1916-4955-B479-05FFF4BC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57350"/>
            <a:ext cx="2028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15F9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15F91"/>
                </a:solidFill>
                <a:latin typeface="Aptos"/>
                <a:ea typeface="Aptos"/>
                <a:cs typeface="Aptos"/>
              </a:rPr>
              <a:t>2.38% / month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814F9-79B5-4FEA-9E69-B39986DE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19300"/>
            <a:ext cx="2028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calm volatility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5FC3D-F9CB-42E5-912B-D921C7CB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05100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7BE7A-2014-4FAE-8FED-131A4FFB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838450"/>
            <a:ext cx="2028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B33A4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33A42"/>
                </a:solidFill>
                <a:latin typeface="Aptos"/>
                <a:ea typeface="Aptos"/>
                <a:cs typeface="Aptos"/>
              </a:rPr>
              <a:t>5.65% / month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3C9F7-853B-4474-B5F3-895110F7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200400"/>
            <a:ext cx="2028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stress volatility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49142-93FF-46DE-92C5-88EF8FF2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86200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6BD7C-6280-4BAA-8B5F-0FEB67B9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019550"/>
            <a:ext cx="2028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0.94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FAB7A-B748-43B7-B128-7BE63974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381500"/>
            <a:ext cx="2028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state persistence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E98AE-07BA-41AE-B52A-1A97F317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72125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Two-state model on monthly SPY log returns.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Both mean and variance switch across states.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Stress is identified ex post as the higher-variance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33EB9-E700-4093-A184-4C98582D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33CFA-8D3E-41B1-9C43-26D1F7BD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Figure: outputs/02_regimes/markov_chain_diagram.png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E7E99-682A-4D80-AF60-41F8174D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124402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50A102-C4CE-4DE1-915F-32A0F7DC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577"/>
                </a:solidFill>
                <a:latin typeface="Aptos"/>
                <a:ea typeface="Aptos"/>
                <a:cs typeface="Aptos"/>
              </a:rPr>
              <a:t>REGIME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6207E-B079-4D95-8333-DF96C250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fitted stress state captures the major crisis episodes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B22FC-D541-4204-BA76-31A9F822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5938e7d3c4f79"/>
          <a:stretch xmlns:a="http://schemas.openxmlformats.org/drawingml/2006/main"/>
        </p:blipFill>
        <p:spPr>
          <a:xfrm xmlns:a="http://schemas.openxmlformats.org/drawingml/2006/main">
            <a:off x="1504333" y="1238250"/>
            <a:ext cx="9183333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806E6-3E43-4939-8F23-F38CA82C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48375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The stress path includes the dot-com unwind, the GFC, euro-area stress, late-2018 selloff, COVID-19, and the 2022 rate-hike drawdown.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4BC99-2516-4EC4-9C12-770C3B50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C095A-A95C-4A55-A29F-010F8770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Figure: presentation/figures/regime_timeline_spy_probability.png (derived crop from outputs/02_regimes/markov_regime_monthly.png)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2A348-3D0B-4784-83FF-38E00FEE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934098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2BE46D-DFB4-4D97-A699-87063B7E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577"/>
                </a:solidFill>
                <a:latin typeface="Aptos"/>
                <a:ea typeface="Aptos"/>
                <a:cs typeface="Aptos"/>
              </a:rPr>
              <a:t>RAW CORRELATIONS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2F5ED-DFB1-4DB4-B773-E5AFD0AD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Equity geography tightens uniformly, while cross-asset risk reshuffles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F0F22-E108-43AB-BFAB-A5901DA8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0607259a04d13"/>
          <a:stretch xmlns:a="http://schemas.openxmlformats.org/drawingml/2006/main"/>
        </p:blipFill>
        <p:spPr>
          <a:xfrm xmlns:a="http://schemas.openxmlformats.org/drawingml/2006/main">
            <a:off x="742950" y="1341582"/>
            <a:ext cx="7000875" cy="384146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764B8-A9B0-44D8-8C8E-E4FCB21E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Raw stress-minus-calm changes tell two different stories.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9BA1F-8274-4740-AC40-12BFBF1C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Panel B: mean correlation rises 0.741 to 0.866; all 15 pairs increase.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Panel A: mean correlation edges down 0.195 to 0.170, but the average hides offsetting moves.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Risk-on real estate, equity, and commodity pairs tighten; Treasury and gold sleeves often decouple.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4F06E-3F78-4249-BCE2-70753D3D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1381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66011-6267-4797-981B-1DE97801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19650"/>
            <a:ext cx="1076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D97B2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B28"/>
                </a:solidFill>
                <a:latin typeface="Aptos"/>
                <a:ea typeface="Aptos"/>
                <a:cs typeface="Aptos"/>
              </a:rPr>
              <a:t>11 / 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9B28A-F8EE-431F-8BF1-E9591D7C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81600"/>
            <a:ext cx="1076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Panel B breakdown pairs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BCDC3-C661-4381-9AF5-9A15E65C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86300"/>
            <a:ext cx="1381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CB874-0AC6-46AA-A0B5-CB8F418E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19650"/>
            <a:ext cx="1076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4F9A5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F9A54"/>
                </a:solidFill>
                <a:latin typeface="Aptos"/>
                <a:ea typeface="Aptos"/>
                <a:cs typeface="Aptos"/>
              </a:rPr>
              <a:t>22 / 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08606-0D71-49C6-8FEB-3C292787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181600"/>
            <a:ext cx="1076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Panel A resilient pairs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93F50-7B8D-44FE-9B30-91B2D852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D9430-1BCA-4955-89E5-BB5BF335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Figure: outputs/03_correlation_raw/delta_corr_distribution.png; values from outputs/03_correlation_raw/*.csv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663D8-D2D3-44A5-BC0B-554A45EF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76223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46766D-6DCC-45DB-A55C-7727BA32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577"/>
                </a:solidFill>
                <a:latin typeface="Aptos"/>
                <a:ea typeface="Aptos"/>
                <a:cs typeface="Aptos"/>
              </a:rPr>
              <a:t>BOOTSTRAP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D6B42-B5BD-4B3E-8FC2-2A6602E4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Only the international-equity average survives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1982D-62A1-4EF2-AC0D-6D88318C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693dcaff7414c"/>
          <a:stretch xmlns:a="http://schemas.openxmlformats.org/drawingml/2006/main"/>
        </p:blipFill>
        <p:spPr>
          <a:xfrm xmlns:a="http://schemas.openxmlformats.org/drawingml/2006/main">
            <a:off x="723900" y="1463577"/>
            <a:ext cx="6953250" cy="364509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DEEB6-28C5-4267-AE21-14EBE602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Block bootstrap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29ADB-0ACB-4F3A-9285-A34A773F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Panel B average delta rho = +0.124, 95% CI [+0.084, +0.157], p &lt; 0.001.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Panel A and combined universe averages have confidence intervals crossing zero.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A null average is not no effect: Panel A has significant increases and decreases that cancel.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The block bootstrap is more conservative than Fisher-z because daily returns are dependent.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703E2-AF1D-4679-BFB7-56FA3DCF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1381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874B2-E57D-4C74-B8C6-50683633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0150"/>
            <a:ext cx="1076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CA62E-4108-4880-A9BA-72563ABB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72100"/>
            <a:ext cx="1076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Panel A FDR pairs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C668B-2825-4392-B5D9-06A826E7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76800"/>
            <a:ext cx="1381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84817-743C-4C65-A2EB-E902EB55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010150"/>
            <a:ext cx="1076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D97B2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B2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84905-7C04-4595-A2BC-FE0447B0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372100"/>
            <a:ext cx="1076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Panel B FDR pairs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FDBC1-B0A2-4E5D-AF2B-D5283397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56F90-B3AE-4DFF-93E9-319C2BA9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Figure: outputs/04_correlation_bootstrapping/universe_average_delta_ci.png; values from outputs/04_correlation_bootstrapping/*.csv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B287C-215E-4081-8C5A-EE8F4B33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867200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7FA3D3-703D-4965-B334-E68353AF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577"/>
                </a:solidFill>
                <a:latin typeface="Aptos"/>
                <a:ea typeface="Aptos"/>
                <a:cs typeface="Aptos"/>
              </a:rPr>
              <a:t>PCA CONCENTRATION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21143-B32A-458C-8134-9B9A22A9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Stress leaves fewer effective bets in every universe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2D1C3-7035-4780-83C2-7AD33902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2357bb3664f31"/>
          <a:stretch xmlns:a="http://schemas.openxmlformats.org/drawingml/2006/main"/>
        </p:blipFill>
        <p:spPr>
          <a:xfrm xmlns:a="http://schemas.openxmlformats.org/drawingml/2006/main">
            <a:off x="800100" y="1395132"/>
            <a:ext cx="7048500" cy="364863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969D4-6B8F-4B98-9C4E-ED26B955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47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Portfolio-level concentration reinforces the pairwise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FA2CB-098C-4ECE-A1D2-00F56C6F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0956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PC1 share rises in all three universes.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Effective bets fall from 4.52 to 4.33 in Panel A.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Panel B is nearly one-factor in stress: 1.58 to 1.26 effective bets.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The combined universe loses almost one full effective bet.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7C3CD-18E8-4247-8035-7F258C39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1428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67327-08AC-4F41-A8C6-41FF8339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863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B33A4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33A42"/>
                </a:solidFill>
                <a:latin typeface="Aptos"/>
                <a:ea typeface="Aptos"/>
                <a:cs typeface="Aptos"/>
              </a:rPr>
              <a:t>-0.90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7BE25-4F1F-4E63-9582-E201E65D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48300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combined effective-bet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6F29E-D0C2-4B6E-9753-EAB2AAF8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953000"/>
            <a:ext cx="1428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20C7B-E05D-4C4A-B790-E772CD9D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0863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D97B2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B28"/>
                </a:solidFill>
                <a:latin typeface="Aptos"/>
                <a:ea typeface="Aptos"/>
                <a:cs typeface="Aptos"/>
              </a:rPr>
              <a:t>88.9%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F5F47-0B4B-4D63-B159-378C05F8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448300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Panel B stress PC1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B4F4F-FF6F-46A1-87CA-97DC27C0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A0FF5-8BF2-4333-89DB-EB1B4A83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Figure: outputs/05_pca/effective_bets_calm_vs_stress.png; values from outputs/05_pca/*.csv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B51F7-B100-443D-A480-E87DD19B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2116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020C02-A9F9-4852-8D78-39F2265B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577"/>
                </a:solidFill>
                <a:latin typeface="Aptos"/>
                <a:ea typeface="Aptos"/>
                <a:cs typeface="Aptos"/>
              </a:rPr>
              <a:t>ADJUSTED CORRELATIONS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BE67A-F045-4068-A20F-ADF0AD0F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Forbes-Rigobon reframes breakdown as volatility-driven interdependence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D71C8-8215-485D-B06C-A9758DA2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27ae5ece04436"/>
          <a:stretch xmlns:a="http://schemas.openxmlformats.org/drawingml/2006/main"/>
        </p:blipFill>
        <p:spPr>
          <a:xfrm xmlns:a="http://schemas.openxmlformats.org/drawingml/2006/main">
            <a:off x="742950" y="1735886"/>
            <a:ext cx="6762750" cy="30623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BFA55-C4D0-4C0D-B2E4-F92B35D9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0970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adjustment asks why correlations rose, not whether investors experienced higher comovement.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C3FE4-CD2E-43D5-A388-DDF43924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3381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Raw correlations are the realized stress-period comovement.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Forbes-Rigobon deflates stress correlations for higher variance of the common shock.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No pair survives as a robust breakdown under either adjustment method.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The experienced breakdown is real; the source is heteroskedasticity rather than structural contagion.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D9005-EE1B-4678-B48B-24F0DCC0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24450"/>
            <a:ext cx="147637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5D07F-9002-4F0A-9DDF-73848E60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257800"/>
            <a:ext cx="1171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B33A4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33A4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E61D0-97BB-42CA-8274-9B07720E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619750"/>
            <a:ext cx="1171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robust breakdowns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1F50F-56B7-4DAC-A78D-1B4F3CA2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24450"/>
            <a:ext cx="147637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EB3FE-19D1-48A8-A6F6-7918BD20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257800"/>
            <a:ext cx="1171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2.97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33104-EA45-4B8A-A4EF-7EB566CC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19750"/>
            <a:ext cx="1171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SPY variance shock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8C2D2-A982-4047-806D-903AE462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05A6F-2948-4199-B030-BF0C67E0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Figure: outputs/06_adjusted_correlation/forbes_rigobon_raw_vs_adjusted.png; values from outputs/06_adjusted_correlation/*.csv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A4A2B-08BA-453E-AF0B-0D13206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603237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8ABF68-C6C3-40B0-8D8D-C1CE5F38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577"/>
                </a:solidFill>
                <a:latin typeface="Aptos"/>
                <a:ea typeface="Aptos"/>
                <a:cs typeface="Aptos"/>
              </a:rPr>
              <a:t>NUANCE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923ED-0C2A-4785-9157-1234CD1A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equity block supplies fragility; cross-asset hedges stay resilient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52E89-3369-4B90-AFE9-369CA5D4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958575be04786"/>
          <a:stretch xmlns:a="http://schemas.openxmlformats.org/drawingml/2006/main"/>
        </p:blipFill>
        <p:spPr>
          <a:xfrm xmlns:a="http://schemas.openxmlformats.org/drawingml/2006/main">
            <a:off x="714375" y="1583055"/>
            <a:ext cx="7096125" cy="34061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DF2BC-C97F-4E3C-9A54-BE93D738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097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conservative non-SPY pair-max view separates the two panels sharply.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64A52-8E93-4E98-BE0C-707DA920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0030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Panel A non-SPY pairs are dominated by resilient decreases.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Panel B has no resilient non-SPY pair.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Treasuries and gold keep diversifying in stress on average.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Listed real estate behaves more like the risk-on block than like a separate hedge.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61318-8B37-4628-A915-8933C494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67300"/>
            <a:ext cx="1571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419BD-5EAC-41D6-9AB7-72CB07DC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200650"/>
            <a:ext cx="1266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4F9A5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F9A54"/>
                </a:solidFill>
                <a:latin typeface="Aptos"/>
                <a:ea typeface="Aptos"/>
                <a:cs typeface="Aptos"/>
              </a:rPr>
              <a:t>19 / 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8A2CD-8FD4-4959-B3EA-E6C10232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562600"/>
            <a:ext cx="1266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Panel A non-SPY resilient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3FA2A-0E28-455C-B4FD-2837D9D0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67300"/>
            <a:ext cx="1571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363F1-6882-4B85-A95C-65254E5E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200650"/>
            <a:ext cx="1266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D97B2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B28"/>
                </a:solidFill>
                <a:latin typeface="Aptos"/>
                <a:ea typeface="Aptos"/>
                <a:cs typeface="Aptos"/>
              </a:rPr>
              <a:t>0 /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B9661-3476-46F7-A1A8-7A8CDEF4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562600"/>
            <a:ext cx="1266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Panel B non-SPY resilient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5A916-2507-45CD-B0FD-298118C5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7A33A-E767-4491-9A0B-5B98305B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Figure: outputs/06_adjusted_correlation/forbes_rigobon_pair_max_non_spy_raw_vs_adjusted.png; values from outputs/06_adjusted_correlation/forbes_rigobon_pair_max_non_spy_pairs.csv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31BAE-3288-4D1B-A427-2FE1A36A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03601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685856-C953-4E4A-9BAC-D7837979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577"/>
                </a:solidFill>
                <a:latin typeface="Aptos"/>
                <a:ea typeface="Aptos"/>
                <a:cs typeface="Aptos"/>
              </a:rPr>
              <a:t>DEMO PREVIEW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084EF-123D-422E-B973-CFABAD29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Dashboard is a supplement, not a source of new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8254B-B5A5-4391-81E5-C02287AB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F9CBA-E477-490C-BD10-53579933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28750"/>
            <a:ext cx="9953625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E1CDD-750F-4FAA-9221-30450CB2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002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B33A4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33A42"/>
                </a:solidFill>
                <a:latin typeface="Aptos"/>
                <a:ea typeface="Aptos"/>
                <a:cs typeface="Aptos"/>
              </a:rPr>
              <a:t>TODO: add Streamlit dashboard screenshot once the app exists in the repo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E00A3-8D73-4215-B8C7-77A5413E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Current repository scan found notebooks, scripts, report files, and generated outputs, but no Streamlit app entry point or pages directory.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E03B8-DDC8-4AF6-B8BC-90016D10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62375"/>
            <a:ext cx="828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- Keep any dashboard as an exploration layer for regimes, pair rankings, PCA, and adjusted correlations.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- Do not present dashboard interactions as additional empirical results.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- Replace this placeholder with real app pages or screenshots after implementation.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198AF-1452-4570-B8B0-6657E07F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1905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C79C8-253B-4593-B9C5-B33FDF88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721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B33A4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33A4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5C4F9-DAC7-4673-AE9B-59258118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340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Streamlit files found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8F96E-FD59-4E24-A110-F842AB5D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3875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0420B-3EFB-4994-8986-655628AD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721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report + outputs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151CE-3BE8-4ED3-BD3E-C986C114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7340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main evidence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838DA-AAD8-4685-9545-25744260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74F78-983F-4839-9A30-A079531E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Source: repo scan; TODO missing dashboard screenshot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7D90B-74AF-4756-90C5-F7A5CB26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974847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4D0B1D-A16D-48D7-9EDC-027DD484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577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B70AC-E7E8-4A00-BB24-CED0D5E5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Diversification must be tested in the stress regime, not only on average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4FB54-16AA-4B95-94F4-534EE511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D6F7A-AFDF-412E-9905-3C320C9F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7637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C4825-26BE-442A-8066-6CCE742A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5732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Equities are fragile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F92A3-7E21-4479-A931-01AD4010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764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International equity correlations tighten uniformly, and Panel B collapses toward one effective bet in stress.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694AA-6A52-424F-9E1B-831F3F6B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A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E0EF7-8B3D-4C68-BF8A-6CF365E1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9557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Cross-asset hedges are more resilient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4FA7C-D306-4526-9BD0-7DB1241B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1467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Treasuries and gold often decouple further, even though risk-on sleeves such as VNQ, commodities, oil, and equities tighten.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2F889-EC78-4FD0-BB57-B25AC42C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105A9-48EC-412B-832C-CAD8710E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3382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Raw and adjusted results answer different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0200A2-C95D-472C-AB7F-2DB38956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9657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577"/>
                </a:solidFill>
                <a:latin typeface="Aptos"/>
                <a:ea typeface="Aptos"/>
                <a:cs typeface="Aptos"/>
              </a:rPr>
              <a:t>Raw correlations measure experienced comovement; Forbes-Rigobon shows the increase is volatility-driven interdependence, not robust contagion.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48A21-AFC2-43D3-846A-BE38F84F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578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Bottom line: more assets or more countries are not enough. The question is whether the risk drivers remain distinct when the stress state arrives.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DA9B2-9F60-4112-8F1A-F1A4EAC8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86E3E-2BCE-4F84-866F-C2CD9F65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Source: final_report.pdf, Sections 6-7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04653-1493-4C93-9C35-5E279A2A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91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B85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59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0035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2026-07-03T07:12:28.3420000Z</dcterms:created>
  <dcterms:modified xsi:type="dcterms:W3CDTF">2026-07-03T07:12:28.3430000Z</dcterms:modified>
</coreProperties>
</file>